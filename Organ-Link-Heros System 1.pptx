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C6A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04"/>
    <p:restoredTop sz="94711"/>
  </p:normalViewPr>
  <p:slideViewPr>
    <p:cSldViewPr snapToGrid="0">
      <p:cViewPr varScale="1">
        <p:scale>
          <a:sx n="51" d="100"/>
          <a:sy n="51" d="100"/>
        </p:scale>
        <p:origin x="232" y="16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2AAF46-2092-7C7E-63EF-7EAF8115CD94}"/>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80A09F85-60B0-002D-3AFF-88FE3E8492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8AD7DAF9-57C3-5431-BCD2-E205C85F008C}"/>
              </a:ext>
            </a:extLst>
          </p:cNvPr>
          <p:cNvSpPr>
            <a:spLocks noGrp="1"/>
          </p:cNvSpPr>
          <p:nvPr>
            <p:ph type="dt" sz="half" idx="10"/>
          </p:nvPr>
        </p:nvSpPr>
        <p:spPr/>
        <p:txBody>
          <a:bodyPr/>
          <a:lstStyle/>
          <a:p>
            <a:fld id="{BEF4B70A-B2A4-B140-85F5-FE592F8D2144}" type="datetimeFigureOut">
              <a:rPr kumimoji="1" lang="zh-TW" altLang="en-US" smtClean="0"/>
              <a:t>2025/12/7</a:t>
            </a:fld>
            <a:endParaRPr kumimoji="1" lang="zh-TW" altLang="en-US"/>
          </a:p>
        </p:txBody>
      </p:sp>
      <p:sp>
        <p:nvSpPr>
          <p:cNvPr id="5" name="頁尾版面配置區 4">
            <a:extLst>
              <a:ext uri="{FF2B5EF4-FFF2-40B4-BE49-F238E27FC236}">
                <a16:creationId xmlns:a16="http://schemas.microsoft.com/office/drawing/2014/main" id="{BA99E434-F9C2-77BF-2006-B9BA462201E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36FBF533-5978-8170-25CA-D89E344B0A14}"/>
              </a:ext>
            </a:extLst>
          </p:cNvPr>
          <p:cNvSpPr>
            <a:spLocks noGrp="1"/>
          </p:cNvSpPr>
          <p:nvPr>
            <p:ph type="sldNum" sz="quarter" idx="12"/>
          </p:nvPr>
        </p:nvSpPr>
        <p:spPr/>
        <p:txBody>
          <a:bodyPr/>
          <a:lstStyle/>
          <a:p>
            <a:fld id="{351328E5-839B-A645-9970-EBE61C8BE828}" type="slidenum">
              <a:rPr kumimoji="1" lang="zh-TW" altLang="en-US" smtClean="0"/>
              <a:t>‹#›</a:t>
            </a:fld>
            <a:endParaRPr kumimoji="1" lang="zh-TW" altLang="en-US"/>
          </a:p>
        </p:txBody>
      </p:sp>
    </p:spTree>
    <p:extLst>
      <p:ext uri="{BB962C8B-B14F-4D97-AF65-F5344CB8AC3E}">
        <p14:creationId xmlns:p14="http://schemas.microsoft.com/office/powerpoint/2010/main" val="1622910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D690D8A-D100-1C33-4294-0305044964BB}"/>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062570A-6ADB-6BE7-233F-F85716A580EE}"/>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24D4B8AC-4B7C-ED56-BA57-A6B1018DDDBC}"/>
              </a:ext>
            </a:extLst>
          </p:cNvPr>
          <p:cNvSpPr>
            <a:spLocks noGrp="1"/>
          </p:cNvSpPr>
          <p:nvPr>
            <p:ph type="dt" sz="half" idx="10"/>
          </p:nvPr>
        </p:nvSpPr>
        <p:spPr/>
        <p:txBody>
          <a:bodyPr/>
          <a:lstStyle/>
          <a:p>
            <a:fld id="{BEF4B70A-B2A4-B140-85F5-FE592F8D2144}" type="datetimeFigureOut">
              <a:rPr kumimoji="1" lang="zh-TW" altLang="en-US" smtClean="0"/>
              <a:t>2025/12/7</a:t>
            </a:fld>
            <a:endParaRPr kumimoji="1" lang="zh-TW" altLang="en-US"/>
          </a:p>
        </p:txBody>
      </p:sp>
      <p:sp>
        <p:nvSpPr>
          <p:cNvPr id="5" name="頁尾版面配置區 4">
            <a:extLst>
              <a:ext uri="{FF2B5EF4-FFF2-40B4-BE49-F238E27FC236}">
                <a16:creationId xmlns:a16="http://schemas.microsoft.com/office/drawing/2014/main" id="{92BC186E-5A0E-3292-798E-A7D6E01105B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2716563-66F6-ED3C-51EE-95D909AB4AB8}"/>
              </a:ext>
            </a:extLst>
          </p:cNvPr>
          <p:cNvSpPr>
            <a:spLocks noGrp="1"/>
          </p:cNvSpPr>
          <p:nvPr>
            <p:ph type="sldNum" sz="quarter" idx="12"/>
          </p:nvPr>
        </p:nvSpPr>
        <p:spPr/>
        <p:txBody>
          <a:bodyPr/>
          <a:lstStyle/>
          <a:p>
            <a:fld id="{351328E5-839B-A645-9970-EBE61C8BE828}" type="slidenum">
              <a:rPr kumimoji="1" lang="zh-TW" altLang="en-US" smtClean="0"/>
              <a:t>‹#›</a:t>
            </a:fld>
            <a:endParaRPr kumimoji="1" lang="zh-TW" altLang="en-US"/>
          </a:p>
        </p:txBody>
      </p:sp>
    </p:spTree>
    <p:extLst>
      <p:ext uri="{BB962C8B-B14F-4D97-AF65-F5344CB8AC3E}">
        <p14:creationId xmlns:p14="http://schemas.microsoft.com/office/powerpoint/2010/main" val="1056227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61BA6A-5BC4-4AB8-E913-12B1FE5A46CC}"/>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A1F18E01-68F4-10D9-299E-24AFEE8C87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B83292F5-86AA-978C-7E11-4A2722B43E5E}"/>
              </a:ext>
            </a:extLst>
          </p:cNvPr>
          <p:cNvSpPr>
            <a:spLocks noGrp="1"/>
          </p:cNvSpPr>
          <p:nvPr>
            <p:ph type="dt" sz="half" idx="10"/>
          </p:nvPr>
        </p:nvSpPr>
        <p:spPr/>
        <p:txBody>
          <a:bodyPr/>
          <a:lstStyle/>
          <a:p>
            <a:fld id="{BEF4B70A-B2A4-B140-85F5-FE592F8D2144}" type="datetimeFigureOut">
              <a:rPr kumimoji="1" lang="zh-TW" altLang="en-US" smtClean="0"/>
              <a:t>2025/12/7</a:t>
            </a:fld>
            <a:endParaRPr kumimoji="1" lang="zh-TW" altLang="en-US"/>
          </a:p>
        </p:txBody>
      </p:sp>
      <p:sp>
        <p:nvSpPr>
          <p:cNvPr id="5" name="頁尾版面配置區 4">
            <a:extLst>
              <a:ext uri="{FF2B5EF4-FFF2-40B4-BE49-F238E27FC236}">
                <a16:creationId xmlns:a16="http://schemas.microsoft.com/office/drawing/2014/main" id="{2A6DDA07-2EFA-8683-98D9-6D44D591F18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0050A028-F06D-2021-3095-0A8F20778A4A}"/>
              </a:ext>
            </a:extLst>
          </p:cNvPr>
          <p:cNvSpPr>
            <a:spLocks noGrp="1"/>
          </p:cNvSpPr>
          <p:nvPr>
            <p:ph type="sldNum" sz="quarter" idx="12"/>
          </p:nvPr>
        </p:nvSpPr>
        <p:spPr/>
        <p:txBody>
          <a:bodyPr/>
          <a:lstStyle/>
          <a:p>
            <a:fld id="{351328E5-839B-A645-9970-EBE61C8BE828}" type="slidenum">
              <a:rPr kumimoji="1" lang="zh-TW" altLang="en-US" smtClean="0"/>
              <a:t>‹#›</a:t>
            </a:fld>
            <a:endParaRPr kumimoji="1" lang="zh-TW" altLang="en-US"/>
          </a:p>
        </p:txBody>
      </p:sp>
    </p:spTree>
    <p:extLst>
      <p:ext uri="{BB962C8B-B14F-4D97-AF65-F5344CB8AC3E}">
        <p14:creationId xmlns:p14="http://schemas.microsoft.com/office/powerpoint/2010/main" val="1967579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A452E2-4EB4-42FC-9E3E-11DFEDB1FAA2}"/>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9524F9E0-5391-842F-BD1B-E010BB0BB167}"/>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721ABCEE-453F-7E91-2EF9-1764D889353A}"/>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DF9F5B75-591E-52DE-B8D1-C2600432A2C6}"/>
              </a:ext>
            </a:extLst>
          </p:cNvPr>
          <p:cNvSpPr>
            <a:spLocks noGrp="1"/>
          </p:cNvSpPr>
          <p:nvPr>
            <p:ph type="dt" sz="half" idx="10"/>
          </p:nvPr>
        </p:nvSpPr>
        <p:spPr/>
        <p:txBody>
          <a:bodyPr/>
          <a:lstStyle/>
          <a:p>
            <a:fld id="{BEF4B70A-B2A4-B140-85F5-FE592F8D2144}" type="datetimeFigureOut">
              <a:rPr kumimoji="1" lang="zh-TW" altLang="en-US" smtClean="0"/>
              <a:t>2025/12/7</a:t>
            </a:fld>
            <a:endParaRPr kumimoji="1" lang="zh-TW" altLang="en-US"/>
          </a:p>
        </p:txBody>
      </p:sp>
      <p:sp>
        <p:nvSpPr>
          <p:cNvPr id="6" name="頁尾版面配置區 5">
            <a:extLst>
              <a:ext uri="{FF2B5EF4-FFF2-40B4-BE49-F238E27FC236}">
                <a16:creationId xmlns:a16="http://schemas.microsoft.com/office/drawing/2014/main" id="{01BA4E81-A557-76FA-E3D5-843E126D911F}"/>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2AEF943-C1A0-5BA1-E3AE-791A2404A857}"/>
              </a:ext>
            </a:extLst>
          </p:cNvPr>
          <p:cNvSpPr>
            <a:spLocks noGrp="1"/>
          </p:cNvSpPr>
          <p:nvPr>
            <p:ph type="sldNum" sz="quarter" idx="12"/>
          </p:nvPr>
        </p:nvSpPr>
        <p:spPr/>
        <p:txBody>
          <a:bodyPr/>
          <a:lstStyle/>
          <a:p>
            <a:fld id="{351328E5-839B-A645-9970-EBE61C8BE828}" type="slidenum">
              <a:rPr kumimoji="1" lang="zh-TW" altLang="en-US" smtClean="0"/>
              <a:t>‹#›</a:t>
            </a:fld>
            <a:endParaRPr kumimoji="1" lang="zh-TW" altLang="en-US"/>
          </a:p>
        </p:txBody>
      </p:sp>
    </p:spTree>
    <p:extLst>
      <p:ext uri="{BB962C8B-B14F-4D97-AF65-F5344CB8AC3E}">
        <p14:creationId xmlns:p14="http://schemas.microsoft.com/office/powerpoint/2010/main" val="3259365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10340D-1CB0-1561-E282-E51E07B8338C}"/>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EEAF9F85-9126-54C9-0665-DA73B8E164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CF384B84-E6CC-66EF-9FEC-4F5BF3B53841}"/>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F4411FE7-18B9-B26B-598F-20A38B7B87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46ACE0F8-87AD-4420-6359-4D79FF1A4927}"/>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F643B2FA-A22E-C475-4613-9E45528F30EA}"/>
              </a:ext>
            </a:extLst>
          </p:cNvPr>
          <p:cNvSpPr>
            <a:spLocks noGrp="1"/>
          </p:cNvSpPr>
          <p:nvPr>
            <p:ph type="dt" sz="half" idx="10"/>
          </p:nvPr>
        </p:nvSpPr>
        <p:spPr/>
        <p:txBody>
          <a:bodyPr/>
          <a:lstStyle/>
          <a:p>
            <a:fld id="{BEF4B70A-B2A4-B140-85F5-FE592F8D2144}" type="datetimeFigureOut">
              <a:rPr kumimoji="1" lang="zh-TW" altLang="en-US" smtClean="0"/>
              <a:t>2025/12/7</a:t>
            </a:fld>
            <a:endParaRPr kumimoji="1" lang="zh-TW" altLang="en-US"/>
          </a:p>
        </p:txBody>
      </p:sp>
      <p:sp>
        <p:nvSpPr>
          <p:cNvPr id="8" name="頁尾版面配置區 7">
            <a:extLst>
              <a:ext uri="{FF2B5EF4-FFF2-40B4-BE49-F238E27FC236}">
                <a16:creationId xmlns:a16="http://schemas.microsoft.com/office/drawing/2014/main" id="{B5FFA7BB-54DA-FDFD-F64D-6666FAE36248}"/>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94F74BE6-260B-CE63-29A5-71B374DA53A6}"/>
              </a:ext>
            </a:extLst>
          </p:cNvPr>
          <p:cNvSpPr>
            <a:spLocks noGrp="1"/>
          </p:cNvSpPr>
          <p:nvPr>
            <p:ph type="sldNum" sz="quarter" idx="12"/>
          </p:nvPr>
        </p:nvSpPr>
        <p:spPr/>
        <p:txBody>
          <a:bodyPr/>
          <a:lstStyle/>
          <a:p>
            <a:fld id="{351328E5-839B-A645-9970-EBE61C8BE828}" type="slidenum">
              <a:rPr kumimoji="1" lang="zh-TW" altLang="en-US" smtClean="0"/>
              <a:t>‹#›</a:t>
            </a:fld>
            <a:endParaRPr kumimoji="1" lang="zh-TW" altLang="en-US"/>
          </a:p>
        </p:txBody>
      </p:sp>
    </p:spTree>
    <p:extLst>
      <p:ext uri="{BB962C8B-B14F-4D97-AF65-F5344CB8AC3E}">
        <p14:creationId xmlns:p14="http://schemas.microsoft.com/office/powerpoint/2010/main" val="405246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09E7E4-EE70-2C44-DA6E-037F0AD55CC3}"/>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89E1E639-38FC-8FBA-2C7C-00D8E5312950}"/>
              </a:ext>
            </a:extLst>
          </p:cNvPr>
          <p:cNvSpPr>
            <a:spLocks noGrp="1"/>
          </p:cNvSpPr>
          <p:nvPr>
            <p:ph type="dt" sz="half" idx="10"/>
          </p:nvPr>
        </p:nvSpPr>
        <p:spPr/>
        <p:txBody>
          <a:bodyPr/>
          <a:lstStyle/>
          <a:p>
            <a:fld id="{BEF4B70A-B2A4-B140-85F5-FE592F8D2144}" type="datetimeFigureOut">
              <a:rPr kumimoji="1" lang="zh-TW" altLang="en-US" smtClean="0"/>
              <a:t>2025/12/7</a:t>
            </a:fld>
            <a:endParaRPr kumimoji="1" lang="zh-TW" altLang="en-US"/>
          </a:p>
        </p:txBody>
      </p:sp>
      <p:sp>
        <p:nvSpPr>
          <p:cNvPr id="4" name="頁尾版面配置區 3">
            <a:extLst>
              <a:ext uri="{FF2B5EF4-FFF2-40B4-BE49-F238E27FC236}">
                <a16:creationId xmlns:a16="http://schemas.microsoft.com/office/drawing/2014/main" id="{41FE4976-E477-436C-0AC8-49F0B5F91020}"/>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75C7D2D6-DCDC-9606-8DE0-9CFFF51F70D7}"/>
              </a:ext>
            </a:extLst>
          </p:cNvPr>
          <p:cNvSpPr>
            <a:spLocks noGrp="1"/>
          </p:cNvSpPr>
          <p:nvPr>
            <p:ph type="sldNum" sz="quarter" idx="12"/>
          </p:nvPr>
        </p:nvSpPr>
        <p:spPr/>
        <p:txBody>
          <a:bodyPr/>
          <a:lstStyle/>
          <a:p>
            <a:fld id="{351328E5-839B-A645-9970-EBE61C8BE828}" type="slidenum">
              <a:rPr kumimoji="1" lang="zh-TW" altLang="en-US" smtClean="0"/>
              <a:t>‹#›</a:t>
            </a:fld>
            <a:endParaRPr kumimoji="1" lang="zh-TW" altLang="en-US"/>
          </a:p>
        </p:txBody>
      </p:sp>
    </p:spTree>
    <p:extLst>
      <p:ext uri="{BB962C8B-B14F-4D97-AF65-F5344CB8AC3E}">
        <p14:creationId xmlns:p14="http://schemas.microsoft.com/office/powerpoint/2010/main" val="1468926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FE4A6F8-E884-EB34-0BA3-3C6C34B87697}"/>
              </a:ext>
            </a:extLst>
          </p:cNvPr>
          <p:cNvSpPr>
            <a:spLocks noGrp="1"/>
          </p:cNvSpPr>
          <p:nvPr>
            <p:ph type="dt" sz="half" idx="10"/>
          </p:nvPr>
        </p:nvSpPr>
        <p:spPr/>
        <p:txBody>
          <a:bodyPr/>
          <a:lstStyle/>
          <a:p>
            <a:fld id="{BEF4B70A-B2A4-B140-85F5-FE592F8D2144}" type="datetimeFigureOut">
              <a:rPr kumimoji="1" lang="zh-TW" altLang="en-US" smtClean="0"/>
              <a:t>2025/12/7</a:t>
            </a:fld>
            <a:endParaRPr kumimoji="1" lang="zh-TW" altLang="en-US"/>
          </a:p>
        </p:txBody>
      </p:sp>
      <p:sp>
        <p:nvSpPr>
          <p:cNvPr id="3" name="頁尾版面配置區 2">
            <a:extLst>
              <a:ext uri="{FF2B5EF4-FFF2-40B4-BE49-F238E27FC236}">
                <a16:creationId xmlns:a16="http://schemas.microsoft.com/office/drawing/2014/main" id="{246BC17F-FACB-EE5F-C4E7-7E063AE1D6C0}"/>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B7E4ED6A-D7A7-EF67-3723-112F92C5B670}"/>
              </a:ext>
            </a:extLst>
          </p:cNvPr>
          <p:cNvSpPr>
            <a:spLocks noGrp="1"/>
          </p:cNvSpPr>
          <p:nvPr>
            <p:ph type="sldNum" sz="quarter" idx="12"/>
          </p:nvPr>
        </p:nvSpPr>
        <p:spPr/>
        <p:txBody>
          <a:bodyPr/>
          <a:lstStyle/>
          <a:p>
            <a:fld id="{351328E5-839B-A645-9970-EBE61C8BE828}" type="slidenum">
              <a:rPr kumimoji="1" lang="zh-TW" altLang="en-US" smtClean="0"/>
              <a:t>‹#›</a:t>
            </a:fld>
            <a:endParaRPr kumimoji="1" lang="zh-TW" altLang="en-US"/>
          </a:p>
        </p:txBody>
      </p:sp>
    </p:spTree>
    <p:extLst>
      <p:ext uri="{BB962C8B-B14F-4D97-AF65-F5344CB8AC3E}">
        <p14:creationId xmlns:p14="http://schemas.microsoft.com/office/powerpoint/2010/main" val="4247918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009672-70C4-1098-2E2F-A6683B0AB633}"/>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76D6333-11AE-77E9-C9EC-4F4142867B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C4550217-D9F8-D984-47E8-0DCB7464A6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4E496057-C8A0-D634-8636-826FD26B75AA}"/>
              </a:ext>
            </a:extLst>
          </p:cNvPr>
          <p:cNvSpPr>
            <a:spLocks noGrp="1"/>
          </p:cNvSpPr>
          <p:nvPr>
            <p:ph type="dt" sz="half" idx="10"/>
          </p:nvPr>
        </p:nvSpPr>
        <p:spPr/>
        <p:txBody>
          <a:bodyPr/>
          <a:lstStyle/>
          <a:p>
            <a:fld id="{BEF4B70A-B2A4-B140-85F5-FE592F8D2144}" type="datetimeFigureOut">
              <a:rPr kumimoji="1" lang="zh-TW" altLang="en-US" smtClean="0"/>
              <a:t>2025/12/7</a:t>
            </a:fld>
            <a:endParaRPr kumimoji="1" lang="zh-TW" altLang="en-US"/>
          </a:p>
        </p:txBody>
      </p:sp>
      <p:sp>
        <p:nvSpPr>
          <p:cNvPr id="6" name="頁尾版面配置區 5">
            <a:extLst>
              <a:ext uri="{FF2B5EF4-FFF2-40B4-BE49-F238E27FC236}">
                <a16:creationId xmlns:a16="http://schemas.microsoft.com/office/drawing/2014/main" id="{DE8A44DF-5695-5018-69A1-D22B39075E6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22F03F6-B0DC-BC1A-E036-558253348534}"/>
              </a:ext>
            </a:extLst>
          </p:cNvPr>
          <p:cNvSpPr>
            <a:spLocks noGrp="1"/>
          </p:cNvSpPr>
          <p:nvPr>
            <p:ph type="sldNum" sz="quarter" idx="12"/>
          </p:nvPr>
        </p:nvSpPr>
        <p:spPr/>
        <p:txBody>
          <a:bodyPr/>
          <a:lstStyle/>
          <a:p>
            <a:fld id="{351328E5-839B-A645-9970-EBE61C8BE828}" type="slidenum">
              <a:rPr kumimoji="1" lang="zh-TW" altLang="en-US" smtClean="0"/>
              <a:t>‹#›</a:t>
            </a:fld>
            <a:endParaRPr kumimoji="1" lang="zh-TW" altLang="en-US"/>
          </a:p>
        </p:txBody>
      </p:sp>
    </p:spTree>
    <p:extLst>
      <p:ext uri="{BB962C8B-B14F-4D97-AF65-F5344CB8AC3E}">
        <p14:creationId xmlns:p14="http://schemas.microsoft.com/office/powerpoint/2010/main" val="1250411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8269C8-8A2E-9359-BDF3-B592962B84DD}"/>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C28A5368-6927-F68C-56ED-97A4E01CB0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6373D0B7-1551-76CE-774C-85804F5E6D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A3EC43F7-A06D-6264-1D82-6047BE77DD1C}"/>
              </a:ext>
            </a:extLst>
          </p:cNvPr>
          <p:cNvSpPr>
            <a:spLocks noGrp="1"/>
          </p:cNvSpPr>
          <p:nvPr>
            <p:ph type="dt" sz="half" idx="10"/>
          </p:nvPr>
        </p:nvSpPr>
        <p:spPr/>
        <p:txBody>
          <a:bodyPr/>
          <a:lstStyle/>
          <a:p>
            <a:fld id="{BEF4B70A-B2A4-B140-85F5-FE592F8D2144}" type="datetimeFigureOut">
              <a:rPr kumimoji="1" lang="zh-TW" altLang="en-US" smtClean="0"/>
              <a:t>2025/12/7</a:t>
            </a:fld>
            <a:endParaRPr kumimoji="1" lang="zh-TW" altLang="en-US"/>
          </a:p>
        </p:txBody>
      </p:sp>
      <p:sp>
        <p:nvSpPr>
          <p:cNvPr id="6" name="頁尾版面配置區 5">
            <a:extLst>
              <a:ext uri="{FF2B5EF4-FFF2-40B4-BE49-F238E27FC236}">
                <a16:creationId xmlns:a16="http://schemas.microsoft.com/office/drawing/2014/main" id="{77234055-E196-4C14-F48E-C064B6A2C50A}"/>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CBBA5F6-4AC3-B005-0E4C-51485C3FF398}"/>
              </a:ext>
            </a:extLst>
          </p:cNvPr>
          <p:cNvSpPr>
            <a:spLocks noGrp="1"/>
          </p:cNvSpPr>
          <p:nvPr>
            <p:ph type="sldNum" sz="quarter" idx="12"/>
          </p:nvPr>
        </p:nvSpPr>
        <p:spPr/>
        <p:txBody>
          <a:bodyPr/>
          <a:lstStyle/>
          <a:p>
            <a:fld id="{351328E5-839B-A645-9970-EBE61C8BE828}" type="slidenum">
              <a:rPr kumimoji="1" lang="zh-TW" altLang="en-US" smtClean="0"/>
              <a:t>‹#›</a:t>
            </a:fld>
            <a:endParaRPr kumimoji="1" lang="zh-TW" altLang="en-US"/>
          </a:p>
        </p:txBody>
      </p:sp>
    </p:spTree>
    <p:extLst>
      <p:ext uri="{BB962C8B-B14F-4D97-AF65-F5344CB8AC3E}">
        <p14:creationId xmlns:p14="http://schemas.microsoft.com/office/powerpoint/2010/main" val="2741694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11B601-281F-61FF-2C21-8CF71D3CD365}"/>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8F32B8B-F854-114A-32A6-56909D219744}"/>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6BBD2BE6-B8F4-8E45-D294-6B6FFCCABB61}"/>
              </a:ext>
            </a:extLst>
          </p:cNvPr>
          <p:cNvSpPr>
            <a:spLocks noGrp="1"/>
          </p:cNvSpPr>
          <p:nvPr>
            <p:ph type="dt" sz="half" idx="10"/>
          </p:nvPr>
        </p:nvSpPr>
        <p:spPr/>
        <p:txBody>
          <a:bodyPr/>
          <a:lstStyle/>
          <a:p>
            <a:fld id="{BEF4B70A-B2A4-B140-85F5-FE592F8D2144}" type="datetimeFigureOut">
              <a:rPr kumimoji="1" lang="zh-TW" altLang="en-US" smtClean="0"/>
              <a:t>2025/12/7</a:t>
            </a:fld>
            <a:endParaRPr kumimoji="1" lang="zh-TW" altLang="en-US"/>
          </a:p>
        </p:txBody>
      </p:sp>
      <p:sp>
        <p:nvSpPr>
          <p:cNvPr id="5" name="頁尾版面配置區 4">
            <a:extLst>
              <a:ext uri="{FF2B5EF4-FFF2-40B4-BE49-F238E27FC236}">
                <a16:creationId xmlns:a16="http://schemas.microsoft.com/office/drawing/2014/main" id="{8BF873EC-443C-2B9E-7CCB-17661186B51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498A96B-2BEC-CEC9-7BF7-7CD7BEADFF94}"/>
              </a:ext>
            </a:extLst>
          </p:cNvPr>
          <p:cNvSpPr>
            <a:spLocks noGrp="1"/>
          </p:cNvSpPr>
          <p:nvPr>
            <p:ph type="sldNum" sz="quarter" idx="12"/>
          </p:nvPr>
        </p:nvSpPr>
        <p:spPr/>
        <p:txBody>
          <a:bodyPr/>
          <a:lstStyle/>
          <a:p>
            <a:fld id="{351328E5-839B-A645-9970-EBE61C8BE828}" type="slidenum">
              <a:rPr kumimoji="1" lang="zh-TW" altLang="en-US" smtClean="0"/>
              <a:t>‹#›</a:t>
            </a:fld>
            <a:endParaRPr kumimoji="1" lang="zh-TW" altLang="en-US"/>
          </a:p>
        </p:txBody>
      </p:sp>
    </p:spTree>
    <p:extLst>
      <p:ext uri="{BB962C8B-B14F-4D97-AF65-F5344CB8AC3E}">
        <p14:creationId xmlns:p14="http://schemas.microsoft.com/office/powerpoint/2010/main" val="97610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FAB6702A-7F02-6FB1-5FBC-F7A53DFCE5A6}"/>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AB9164BA-CEA5-1464-6D51-23903D36596F}"/>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900906C5-A15D-0AD2-2B8D-8336111905E3}"/>
              </a:ext>
            </a:extLst>
          </p:cNvPr>
          <p:cNvSpPr>
            <a:spLocks noGrp="1"/>
          </p:cNvSpPr>
          <p:nvPr>
            <p:ph type="dt" sz="half" idx="10"/>
          </p:nvPr>
        </p:nvSpPr>
        <p:spPr/>
        <p:txBody>
          <a:bodyPr/>
          <a:lstStyle/>
          <a:p>
            <a:fld id="{BEF4B70A-B2A4-B140-85F5-FE592F8D2144}" type="datetimeFigureOut">
              <a:rPr kumimoji="1" lang="zh-TW" altLang="en-US" smtClean="0"/>
              <a:t>2025/12/7</a:t>
            </a:fld>
            <a:endParaRPr kumimoji="1" lang="zh-TW" altLang="en-US"/>
          </a:p>
        </p:txBody>
      </p:sp>
      <p:sp>
        <p:nvSpPr>
          <p:cNvPr id="5" name="頁尾版面配置區 4">
            <a:extLst>
              <a:ext uri="{FF2B5EF4-FFF2-40B4-BE49-F238E27FC236}">
                <a16:creationId xmlns:a16="http://schemas.microsoft.com/office/drawing/2014/main" id="{9D8F1109-6C59-F17D-4699-84C17FF78EF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86EF84E-B554-86F3-7827-DB454AA149AB}"/>
              </a:ext>
            </a:extLst>
          </p:cNvPr>
          <p:cNvSpPr>
            <a:spLocks noGrp="1"/>
          </p:cNvSpPr>
          <p:nvPr>
            <p:ph type="sldNum" sz="quarter" idx="12"/>
          </p:nvPr>
        </p:nvSpPr>
        <p:spPr/>
        <p:txBody>
          <a:bodyPr/>
          <a:lstStyle/>
          <a:p>
            <a:fld id="{351328E5-839B-A645-9970-EBE61C8BE828}" type="slidenum">
              <a:rPr kumimoji="1" lang="zh-TW" altLang="en-US" smtClean="0"/>
              <a:t>‹#›</a:t>
            </a:fld>
            <a:endParaRPr kumimoji="1" lang="zh-TW" altLang="en-US"/>
          </a:p>
        </p:txBody>
      </p:sp>
    </p:spTree>
    <p:extLst>
      <p:ext uri="{BB962C8B-B14F-4D97-AF65-F5344CB8AC3E}">
        <p14:creationId xmlns:p14="http://schemas.microsoft.com/office/powerpoint/2010/main" val="3292074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F20C51E-D1F8-1D52-2554-921419298D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0407BDA-A035-7B56-E436-CA5C220B6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7F9F056D-031F-8830-0B0C-F9AEE87A55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F4B70A-B2A4-B140-85F5-FE592F8D2144}" type="datetimeFigureOut">
              <a:rPr kumimoji="1" lang="zh-TW" altLang="en-US" smtClean="0"/>
              <a:t>2025/12/7</a:t>
            </a:fld>
            <a:endParaRPr kumimoji="1" lang="zh-TW" altLang="en-US"/>
          </a:p>
        </p:txBody>
      </p:sp>
      <p:sp>
        <p:nvSpPr>
          <p:cNvPr id="5" name="頁尾版面配置區 4">
            <a:extLst>
              <a:ext uri="{FF2B5EF4-FFF2-40B4-BE49-F238E27FC236}">
                <a16:creationId xmlns:a16="http://schemas.microsoft.com/office/drawing/2014/main" id="{FC8C6A1D-0E41-C66D-4893-A8B73489E9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BE4806EE-F43F-AA41-32FA-ABBE2EB09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1328E5-839B-A645-9970-EBE61C8BE828}" type="slidenum">
              <a:rPr kumimoji="1" lang="zh-TW" altLang="en-US" smtClean="0"/>
              <a:t>‹#›</a:t>
            </a:fld>
            <a:endParaRPr kumimoji="1" lang="zh-TW" altLang="en-US"/>
          </a:p>
        </p:txBody>
      </p:sp>
    </p:spTree>
    <p:extLst>
      <p:ext uri="{BB962C8B-B14F-4D97-AF65-F5344CB8AC3E}">
        <p14:creationId xmlns:p14="http://schemas.microsoft.com/office/powerpoint/2010/main" val="2299695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連接器 20">
            <a:extLst>
              <a:ext uri="{FF2B5EF4-FFF2-40B4-BE49-F238E27FC236}">
                <a16:creationId xmlns:a16="http://schemas.microsoft.com/office/drawing/2014/main" id="{F66BF9FD-AA48-CA01-D51E-5B45A0F59685}"/>
              </a:ext>
            </a:extLst>
          </p:cNvPr>
          <p:cNvSpPr/>
          <p:nvPr/>
        </p:nvSpPr>
        <p:spPr>
          <a:xfrm>
            <a:off x="2058309" y="3422847"/>
            <a:ext cx="1922931" cy="1169895"/>
          </a:xfrm>
          <a:prstGeom prst="flowChartConnector">
            <a:avLst/>
          </a:prstGeom>
          <a:solidFill>
            <a:schemeClr val="tx2">
              <a:lumMod val="10000"/>
              <a:lumOff val="90000"/>
            </a:schemeClr>
          </a:solidFill>
          <a:ln>
            <a:solidFill>
              <a:srgbClr val="4C6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標題 1">
            <a:extLst>
              <a:ext uri="{FF2B5EF4-FFF2-40B4-BE49-F238E27FC236}">
                <a16:creationId xmlns:a16="http://schemas.microsoft.com/office/drawing/2014/main" id="{267E1E03-2A96-2488-8D39-E18E1C40E8C1}"/>
              </a:ext>
            </a:extLst>
          </p:cNvPr>
          <p:cNvSpPr>
            <a:spLocks noGrp="1"/>
          </p:cNvSpPr>
          <p:nvPr>
            <p:ph type="ctrTitle"/>
          </p:nvPr>
        </p:nvSpPr>
        <p:spPr>
          <a:xfrm>
            <a:off x="1591514" y="715498"/>
            <a:ext cx="9144000" cy="2387600"/>
          </a:xfrm>
        </p:spPr>
        <p:txBody>
          <a:bodyPr/>
          <a:lstStyle/>
          <a:p>
            <a:r>
              <a:rPr kumimoji="1" lang="en-US" altLang="zh-TW" b="1" dirty="0">
                <a:solidFill>
                  <a:srgbClr val="4C6A99"/>
                </a:solidFill>
              </a:rPr>
              <a:t>Organ-Link-Heros System</a:t>
            </a:r>
            <a:endParaRPr kumimoji="1" lang="zh-TW" altLang="en-US" b="1" dirty="0">
              <a:solidFill>
                <a:srgbClr val="4C6A99"/>
              </a:solidFill>
            </a:endParaRPr>
          </a:p>
        </p:txBody>
      </p:sp>
      <p:sp>
        <p:nvSpPr>
          <p:cNvPr id="3" name="副標題 2">
            <a:extLst>
              <a:ext uri="{FF2B5EF4-FFF2-40B4-BE49-F238E27FC236}">
                <a16:creationId xmlns:a16="http://schemas.microsoft.com/office/drawing/2014/main" id="{02D57082-77AC-F496-9DEE-27291B2CE7DD}"/>
              </a:ext>
            </a:extLst>
          </p:cNvPr>
          <p:cNvSpPr>
            <a:spLocks noGrp="1"/>
          </p:cNvSpPr>
          <p:nvPr>
            <p:ph type="subTitle" idx="1"/>
          </p:nvPr>
        </p:nvSpPr>
        <p:spPr>
          <a:xfrm>
            <a:off x="1524000" y="3602038"/>
            <a:ext cx="9144000" cy="969962"/>
          </a:xfrm>
        </p:spPr>
        <p:txBody>
          <a:bodyPr>
            <a:normAutofit fontScale="25000" lnSpcReduction="20000"/>
          </a:bodyPr>
          <a:lstStyle/>
          <a:p>
            <a:r>
              <a:rPr kumimoji="1" lang="en-US" altLang="zh-TW" sz="11200" dirty="0"/>
              <a:t>Group 6</a:t>
            </a:r>
          </a:p>
          <a:p>
            <a:endParaRPr kumimoji="1" lang="en-US" altLang="zh-TW" sz="11200" dirty="0"/>
          </a:p>
          <a:p>
            <a:r>
              <a:rPr kumimoji="1" lang="en-US" altLang="zh-TW" sz="7200" dirty="0"/>
              <a:t>Chiu Wan Yu</a:t>
            </a:r>
          </a:p>
          <a:p>
            <a:r>
              <a:rPr lang="en-US" altLang="zh-TW" sz="7200" dirty="0"/>
              <a:t>Hao-Chun Hsieh</a:t>
            </a:r>
            <a:endParaRPr kumimoji="1" lang="en-US" altLang="zh-TW" sz="7200" dirty="0"/>
          </a:p>
          <a:p>
            <a:r>
              <a:rPr lang="en-US" altLang="zh-TW" sz="7200" dirty="0"/>
              <a:t>Huang Ing-</a:t>
            </a:r>
            <a:r>
              <a:rPr lang="en-US" altLang="zh-TW" sz="7200" dirty="0" err="1"/>
              <a:t>Ruei</a:t>
            </a:r>
            <a:endParaRPr lang="en-US" altLang="zh-TW" sz="7200" dirty="0"/>
          </a:p>
          <a:p>
            <a:r>
              <a:rPr lang="en-US" altLang="zh-TW" sz="7200" dirty="0"/>
              <a:t>Zhang Shuai </a:t>
            </a:r>
          </a:p>
          <a:p>
            <a:endParaRPr lang="en-US" altLang="zh-TW" sz="7200" dirty="0"/>
          </a:p>
          <a:p>
            <a:endParaRPr lang="en-US" altLang="zh-TW" sz="7200" b="1" dirty="0"/>
          </a:p>
          <a:p>
            <a:endParaRPr kumimoji="1" lang="zh-TW" altLang="en-US" dirty="0"/>
          </a:p>
        </p:txBody>
      </p:sp>
      <p:sp>
        <p:nvSpPr>
          <p:cNvPr id="8" name="文字方塊 7">
            <a:extLst>
              <a:ext uri="{FF2B5EF4-FFF2-40B4-BE49-F238E27FC236}">
                <a16:creationId xmlns:a16="http://schemas.microsoft.com/office/drawing/2014/main" id="{36DF2FB2-F27D-503E-7F79-4A99FEA15F1C}"/>
              </a:ext>
            </a:extLst>
          </p:cNvPr>
          <p:cNvSpPr txBox="1"/>
          <p:nvPr/>
        </p:nvSpPr>
        <p:spPr>
          <a:xfrm>
            <a:off x="1721222" y="1569832"/>
            <a:ext cx="10149841" cy="369332"/>
          </a:xfrm>
          <a:prstGeom prst="rect">
            <a:avLst/>
          </a:prstGeom>
          <a:noFill/>
        </p:spPr>
        <p:txBody>
          <a:bodyPr wrap="square">
            <a:spAutoFit/>
          </a:bodyPr>
          <a:lstStyle/>
          <a:p>
            <a:r>
              <a:rPr lang="en-US" altLang="zh-TW" b="0" i="0" u="none" strike="noStrike" dirty="0">
                <a:effectLst/>
                <a:latin typeface="Arial" panose="020B0604020202020204" pitchFamily="34" charset="0"/>
              </a:rPr>
              <a:t>Exploring the implementation of a communication ecosystem for multi-party application -</a:t>
            </a:r>
            <a:endParaRPr lang="zh-TW" altLang="en-US" dirty="0"/>
          </a:p>
        </p:txBody>
      </p:sp>
      <p:sp>
        <p:nvSpPr>
          <p:cNvPr id="9" name="Freeform 4">
            <a:extLst>
              <a:ext uri="{FF2B5EF4-FFF2-40B4-BE49-F238E27FC236}">
                <a16:creationId xmlns:a16="http://schemas.microsoft.com/office/drawing/2014/main" id="{678151A9-E357-D74B-8C80-F99DBCFE3618}"/>
              </a:ext>
            </a:extLst>
          </p:cNvPr>
          <p:cNvSpPr/>
          <p:nvPr/>
        </p:nvSpPr>
        <p:spPr>
          <a:xfrm>
            <a:off x="338790" y="4572000"/>
            <a:ext cx="1593539" cy="2138082"/>
          </a:xfrm>
          <a:custGeom>
            <a:avLst/>
            <a:gdLst/>
            <a:ahLst/>
            <a:cxnLst/>
            <a:rect l="l" t="t" r="r" b="b"/>
            <a:pathLst>
              <a:path w="2464671" h="3397415">
                <a:moveTo>
                  <a:pt x="0" y="0"/>
                </a:moveTo>
                <a:lnTo>
                  <a:pt x="2464671" y="0"/>
                </a:lnTo>
                <a:lnTo>
                  <a:pt x="2464671" y="3397415"/>
                </a:lnTo>
                <a:lnTo>
                  <a:pt x="0" y="33974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17" name="群組 16">
            <a:extLst>
              <a:ext uri="{FF2B5EF4-FFF2-40B4-BE49-F238E27FC236}">
                <a16:creationId xmlns:a16="http://schemas.microsoft.com/office/drawing/2014/main" id="{2BBBFA1D-0E33-8332-F4C4-484824F45C0C}"/>
              </a:ext>
            </a:extLst>
          </p:cNvPr>
          <p:cNvGrpSpPr/>
          <p:nvPr/>
        </p:nvGrpSpPr>
        <p:grpSpPr>
          <a:xfrm>
            <a:off x="2605587" y="3553043"/>
            <a:ext cx="828373" cy="847165"/>
            <a:chOff x="2542077" y="3617538"/>
            <a:chExt cx="1411870" cy="1385223"/>
          </a:xfrm>
        </p:grpSpPr>
        <p:sp>
          <p:nvSpPr>
            <p:cNvPr id="10" name="Freeform 3">
              <a:extLst>
                <a:ext uri="{FF2B5EF4-FFF2-40B4-BE49-F238E27FC236}">
                  <a16:creationId xmlns:a16="http://schemas.microsoft.com/office/drawing/2014/main" id="{23E961C2-81D9-FBB5-5928-60717B805D80}"/>
                </a:ext>
              </a:extLst>
            </p:cNvPr>
            <p:cNvSpPr/>
            <p:nvPr/>
          </p:nvSpPr>
          <p:spPr>
            <a:xfrm>
              <a:off x="3289770" y="3617538"/>
              <a:ext cx="491016" cy="679788"/>
            </a:xfrm>
            <a:custGeom>
              <a:avLst/>
              <a:gdLst/>
              <a:ahLst/>
              <a:cxnLst/>
              <a:rect l="l" t="t" r="r" b="b"/>
              <a:pathLst>
                <a:path w="931468" h="1240453">
                  <a:moveTo>
                    <a:pt x="0" y="0"/>
                  </a:moveTo>
                  <a:lnTo>
                    <a:pt x="931468" y="0"/>
                  </a:lnTo>
                  <a:lnTo>
                    <a:pt x="931468" y="1240454"/>
                  </a:lnTo>
                  <a:lnTo>
                    <a:pt x="0" y="12404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1" name="Freeform 5">
              <a:extLst>
                <a:ext uri="{FF2B5EF4-FFF2-40B4-BE49-F238E27FC236}">
                  <a16:creationId xmlns:a16="http://schemas.microsoft.com/office/drawing/2014/main" id="{CFD032BC-84ED-79A5-BB35-450045ED18C8}"/>
                </a:ext>
              </a:extLst>
            </p:cNvPr>
            <p:cNvSpPr/>
            <p:nvPr/>
          </p:nvSpPr>
          <p:spPr>
            <a:xfrm>
              <a:off x="2609824" y="4401493"/>
              <a:ext cx="505923" cy="601268"/>
            </a:xfrm>
            <a:custGeom>
              <a:avLst/>
              <a:gdLst/>
              <a:ahLst/>
              <a:cxnLst/>
              <a:rect l="l" t="t" r="r" b="b"/>
              <a:pathLst>
                <a:path w="936054" h="1129477">
                  <a:moveTo>
                    <a:pt x="0" y="0"/>
                  </a:moveTo>
                  <a:lnTo>
                    <a:pt x="936054" y="0"/>
                  </a:lnTo>
                  <a:lnTo>
                    <a:pt x="936054" y="1129478"/>
                  </a:lnTo>
                  <a:lnTo>
                    <a:pt x="0" y="1129478"/>
                  </a:lnTo>
                  <a:lnTo>
                    <a:pt x="0" y="0"/>
                  </a:lnTo>
                  <a:close/>
                </a:path>
              </a:pathLst>
            </a:custGeom>
            <a:blipFill>
              <a:blip r:embed="rId6"/>
              <a:stretch>
                <a:fillRect/>
              </a:stretch>
            </a:blipFill>
          </p:spPr>
          <p:txBody>
            <a:bodyPr/>
            <a:lstStyle/>
            <a:p>
              <a:endParaRPr lang="zh-TW" altLang="en-US"/>
            </a:p>
          </p:txBody>
        </p:sp>
        <p:sp>
          <p:nvSpPr>
            <p:cNvPr id="12" name="Freeform 6">
              <a:extLst>
                <a:ext uri="{FF2B5EF4-FFF2-40B4-BE49-F238E27FC236}">
                  <a16:creationId xmlns:a16="http://schemas.microsoft.com/office/drawing/2014/main" id="{A5EF44C8-19C2-AAE5-9BBC-1B064B5FCA71}"/>
                </a:ext>
              </a:extLst>
            </p:cNvPr>
            <p:cNvSpPr/>
            <p:nvPr/>
          </p:nvSpPr>
          <p:spPr>
            <a:xfrm>
              <a:off x="2542077" y="3625730"/>
              <a:ext cx="505923" cy="663403"/>
            </a:xfrm>
            <a:custGeom>
              <a:avLst/>
              <a:gdLst/>
              <a:ahLst/>
              <a:cxnLst/>
              <a:rect l="l" t="t" r="r" b="b"/>
              <a:pathLst>
                <a:path w="986301" h="1380320">
                  <a:moveTo>
                    <a:pt x="0" y="0"/>
                  </a:moveTo>
                  <a:lnTo>
                    <a:pt x="986301" y="0"/>
                  </a:lnTo>
                  <a:lnTo>
                    <a:pt x="986301" y="1380320"/>
                  </a:lnTo>
                  <a:lnTo>
                    <a:pt x="0" y="138032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zh-TW" altLang="en-US"/>
            </a:p>
          </p:txBody>
        </p:sp>
        <p:sp>
          <p:nvSpPr>
            <p:cNvPr id="15" name="Freeform 7">
              <a:extLst>
                <a:ext uri="{FF2B5EF4-FFF2-40B4-BE49-F238E27FC236}">
                  <a16:creationId xmlns:a16="http://schemas.microsoft.com/office/drawing/2014/main" id="{1C284C16-0243-E68A-A356-530B8987D661}"/>
                </a:ext>
              </a:extLst>
            </p:cNvPr>
            <p:cNvSpPr/>
            <p:nvPr/>
          </p:nvSpPr>
          <p:spPr>
            <a:xfrm>
              <a:off x="3191947" y="4294049"/>
              <a:ext cx="762000" cy="679788"/>
            </a:xfrm>
            <a:custGeom>
              <a:avLst/>
              <a:gdLst/>
              <a:ahLst/>
              <a:cxnLst/>
              <a:rect l="l" t="t" r="r" b="b"/>
              <a:pathLst>
                <a:path w="1500458" h="1031224">
                  <a:moveTo>
                    <a:pt x="0" y="0"/>
                  </a:moveTo>
                  <a:lnTo>
                    <a:pt x="1500459" y="0"/>
                  </a:lnTo>
                  <a:lnTo>
                    <a:pt x="1500459" y="1031224"/>
                  </a:lnTo>
                  <a:lnTo>
                    <a:pt x="0" y="103122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zh-TW" altLang="en-US"/>
            </a:p>
          </p:txBody>
        </p:sp>
      </p:grpSp>
      <p:sp>
        <p:nvSpPr>
          <p:cNvPr id="24" name="橢圓 23">
            <a:extLst>
              <a:ext uri="{FF2B5EF4-FFF2-40B4-BE49-F238E27FC236}">
                <a16:creationId xmlns:a16="http://schemas.microsoft.com/office/drawing/2014/main" id="{6FC86112-F017-B895-D8E4-0CBA5B100A17}"/>
              </a:ext>
            </a:extLst>
          </p:cNvPr>
          <p:cNvSpPr/>
          <p:nvPr/>
        </p:nvSpPr>
        <p:spPr>
          <a:xfrm>
            <a:off x="1835436" y="5012457"/>
            <a:ext cx="222873" cy="158449"/>
          </a:xfrm>
          <a:prstGeom prst="ellipse">
            <a:avLst/>
          </a:prstGeom>
          <a:solidFill>
            <a:schemeClr val="tx2">
              <a:lumMod val="10000"/>
              <a:lumOff val="90000"/>
              <a:alpha val="95831"/>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 name="橢圓 25">
            <a:extLst>
              <a:ext uri="{FF2B5EF4-FFF2-40B4-BE49-F238E27FC236}">
                <a16:creationId xmlns:a16="http://schemas.microsoft.com/office/drawing/2014/main" id="{581FA111-DC32-D78D-0CB9-09D3E7FE5C87}"/>
              </a:ext>
            </a:extLst>
          </p:cNvPr>
          <p:cNvSpPr/>
          <p:nvPr/>
        </p:nvSpPr>
        <p:spPr>
          <a:xfrm>
            <a:off x="2103872" y="4774827"/>
            <a:ext cx="222873" cy="158449"/>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橢圓 26">
            <a:extLst>
              <a:ext uri="{FF2B5EF4-FFF2-40B4-BE49-F238E27FC236}">
                <a16:creationId xmlns:a16="http://schemas.microsoft.com/office/drawing/2014/main" id="{2FFAA4CF-4DE2-B226-E4D0-B7238D42B2AD}"/>
              </a:ext>
            </a:extLst>
          </p:cNvPr>
          <p:cNvSpPr/>
          <p:nvPr/>
        </p:nvSpPr>
        <p:spPr>
          <a:xfrm>
            <a:off x="2326745" y="4551094"/>
            <a:ext cx="222873" cy="158449"/>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4152468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4CB336D7-9D04-1C53-8E1E-65A198438E91}"/>
              </a:ext>
            </a:extLst>
          </p:cNvPr>
          <p:cNvSpPr txBox="1">
            <a:spLocks noGrp="1"/>
          </p:cNvSpPr>
          <p:nvPr>
            <p:ph type="title"/>
          </p:nvPr>
        </p:nvSpPr>
        <p:spPr>
          <a:prstGeom prst="rect">
            <a:avLst/>
          </a:prstGeom>
          <a:noFill/>
        </p:spPr>
        <p:txBody>
          <a:bodyPr wrap="square" rtlCol="0">
            <a:spAutoFit/>
          </a:bodyPr>
          <a:lstStyle/>
          <a:p>
            <a:r>
              <a:rPr kumimoji="1" lang="en-US" altLang="zh-TW" sz="4000" b="1" dirty="0">
                <a:cs typeface="Times New Roman" panose="02020603050405020304" pitchFamily="18" charset="0"/>
              </a:rPr>
              <a:t>outline</a:t>
            </a:r>
            <a:endParaRPr kumimoji="1" lang="zh-TW" altLang="en-US" sz="4000" b="1" dirty="0">
              <a:cs typeface="Times New Roman" panose="02020603050405020304" pitchFamily="18" charset="0"/>
            </a:endParaRPr>
          </a:p>
        </p:txBody>
      </p:sp>
      <p:sp>
        <p:nvSpPr>
          <p:cNvPr id="5" name="文字方塊 4">
            <a:extLst>
              <a:ext uri="{FF2B5EF4-FFF2-40B4-BE49-F238E27FC236}">
                <a16:creationId xmlns:a16="http://schemas.microsoft.com/office/drawing/2014/main" id="{CEDE48E1-D2F5-421A-048B-7DD553CE2C37}"/>
              </a:ext>
            </a:extLst>
          </p:cNvPr>
          <p:cNvSpPr txBox="1"/>
          <p:nvPr/>
        </p:nvSpPr>
        <p:spPr>
          <a:xfrm>
            <a:off x="904868" y="1741942"/>
            <a:ext cx="451822" cy="369332"/>
          </a:xfrm>
          <a:prstGeom prst="rect">
            <a:avLst/>
          </a:prstGeom>
          <a:noFill/>
        </p:spPr>
        <p:txBody>
          <a:bodyPr wrap="square" rtlCol="0">
            <a:spAutoFit/>
          </a:bodyPr>
          <a:lstStyle/>
          <a:p>
            <a:r>
              <a:rPr kumimoji="1" lang="en-US" altLang="zh-TW" dirty="0"/>
              <a:t>0</a:t>
            </a:r>
            <a:endParaRPr kumimoji="1" lang="zh-TW" altLang="en-US" dirty="0"/>
          </a:p>
        </p:txBody>
      </p:sp>
      <p:sp>
        <p:nvSpPr>
          <p:cNvPr id="6" name="文字方塊 5">
            <a:extLst>
              <a:ext uri="{FF2B5EF4-FFF2-40B4-BE49-F238E27FC236}">
                <a16:creationId xmlns:a16="http://schemas.microsoft.com/office/drawing/2014/main" id="{E02F3F38-37A4-E635-9809-DB397452FA48}"/>
              </a:ext>
            </a:extLst>
          </p:cNvPr>
          <p:cNvSpPr txBox="1"/>
          <p:nvPr/>
        </p:nvSpPr>
        <p:spPr>
          <a:xfrm>
            <a:off x="904868" y="3079180"/>
            <a:ext cx="451822" cy="369332"/>
          </a:xfrm>
          <a:prstGeom prst="rect">
            <a:avLst/>
          </a:prstGeom>
          <a:noFill/>
        </p:spPr>
        <p:txBody>
          <a:bodyPr wrap="square" rtlCol="0">
            <a:spAutoFit/>
          </a:bodyPr>
          <a:lstStyle/>
          <a:p>
            <a:r>
              <a:rPr kumimoji="1" lang="en-US" altLang="zh-TW" b="1" dirty="0">
                <a:solidFill>
                  <a:schemeClr val="tx2">
                    <a:lumMod val="75000"/>
                    <a:lumOff val="25000"/>
                  </a:schemeClr>
                </a:solidFill>
              </a:rPr>
              <a:t>02</a:t>
            </a:r>
            <a:endParaRPr kumimoji="1" lang="zh-TW" altLang="en-US" b="1" dirty="0">
              <a:solidFill>
                <a:schemeClr val="tx2">
                  <a:lumMod val="75000"/>
                  <a:lumOff val="25000"/>
                </a:schemeClr>
              </a:solidFill>
            </a:endParaRPr>
          </a:p>
        </p:txBody>
      </p:sp>
      <p:sp>
        <p:nvSpPr>
          <p:cNvPr id="7" name="文字方塊 6">
            <a:extLst>
              <a:ext uri="{FF2B5EF4-FFF2-40B4-BE49-F238E27FC236}">
                <a16:creationId xmlns:a16="http://schemas.microsoft.com/office/drawing/2014/main" id="{36B9B0A1-04DE-1E72-1D3B-7B80F51C1DFE}"/>
              </a:ext>
            </a:extLst>
          </p:cNvPr>
          <p:cNvSpPr txBox="1"/>
          <p:nvPr/>
        </p:nvSpPr>
        <p:spPr>
          <a:xfrm>
            <a:off x="904868" y="1741942"/>
            <a:ext cx="1645920" cy="369332"/>
          </a:xfrm>
          <a:prstGeom prst="rect">
            <a:avLst/>
          </a:prstGeom>
          <a:noFill/>
        </p:spPr>
        <p:txBody>
          <a:bodyPr wrap="square" rtlCol="0">
            <a:spAutoFit/>
          </a:bodyPr>
          <a:lstStyle/>
          <a:p>
            <a:r>
              <a:rPr kumimoji="1" lang="en-US" altLang="zh-TW" b="1" dirty="0">
                <a:solidFill>
                  <a:schemeClr val="tx2">
                    <a:lumMod val="75000"/>
                    <a:lumOff val="25000"/>
                  </a:schemeClr>
                </a:solidFill>
              </a:rPr>
              <a:t>01</a:t>
            </a:r>
            <a:endParaRPr kumimoji="1" lang="zh-TW" altLang="en-US" b="1" dirty="0">
              <a:solidFill>
                <a:schemeClr val="tx2">
                  <a:lumMod val="75000"/>
                  <a:lumOff val="25000"/>
                </a:schemeClr>
              </a:solidFill>
            </a:endParaRPr>
          </a:p>
        </p:txBody>
      </p:sp>
      <p:sp>
        <p:nvSpPr>
          <p:cNvPr id="8" name="文字方塊 7">
            <a:extLst>
              <a:ext uri="{FF2B5EF4-FFF2-40B4-BE49-F238E27FC236}">
                <a16:creationId xmlns:a16="http://schemas.microsoft.com/office/drawing/2014/main" id="{8D1C468F-EF42-CC33-E13A-3B021AE4BD7E}"/>
              </a:ext>
            </a:extLst>
          </p:cNvPr>
          <p:cNvSpPr txBox="1"/>
          <p:nvPr/>
        </p:nvSpPr>
        <p:spPr>
          <a:xfrm>
            <a:off x="904868" y="4615788"/>
            <a:ext cx="537883" cy="369332"/>
          </a:xfrm>
          <a:prstGeom prst="rect">
            <a:avLst/>
          </a:prstGeom>
          <a:noFill/>
        </p:spPr>
        <p:txBody>
          <a:bodyPr wrap="square" rtlCol="0">
            <a:spAutoFit/>
          </a:bodyPr>
          <a:lstStyle/>
          <a:p>
            <a:r>
              <a:rPr kumimoji="1" lang="en-US" altLang="zh-TW" b="1" dirty="0"/>
              <a:t>03</a:t>
            </a:r>
            <a:endParaRPr kumimoji="1" lang="zh-TW" altLang="en-US" b="1" dirty="0"/>
          </a:p>
        </p:txBody>
      </p:sp>
      <p:sp>
        <p:nvSpPr>
          <p:cNvPr id="13" name="文字方塊 12">
            <a:extLst>
              <a:ext uri="{FF2B5EF4-FFF2-40B4-BE49-F238E27FC236}">
                <a16:creationId xmlns:a16="http://schemas.microsoft.com/office/drawing/2014/main" id="{5C1C596E-1ACF-0072-2D42-0FBB7741A1B1}"/>
              </a:ext>
            </a:extLst>
          </p:cNvPr>
          <p:cNvSpPr txBox="1"/>
          <p:nvPr/>
        </p:nvSpPr>
        <p:spPr>
          <a:xfrm>
            <a:off x="6011165" y="1741942"/>
            <a:ext cx="451822" cy="369332"/>
          </a:xfrm>
          <a:prstGeom prst="rect">
            <a:avLst/>
          </a:prstGeom>
          <a:noFill/>
        </p:spPr>
        <p:txBody>
          <a:bodyPr wrap="square" rtlCol="0">
            <a:spAutoFit/>
          </a:bodyPr>
          <a:lstStyle/>
          <a:p>
            <a:r>
              <a:rPr kumimoji="1" lang="en-US" altLang="zh-TW" b="1" dirty="0">
                <a:solidFill>
                  <a:schemeClr val="tx2">
                    <a:lumMod val="75000"/>
                    <a:lumOff val="25000"/>
                  </a:schemeClr>
                </a:solidFill>
              </a:rPr>
              <a:t>04</a:t>
            </a:r>
            <a:endParaRPr kumimoji="1" lang="zh-TW" altLang="en-US" b="1" dirty="0">
              <a:solidFill>
                <a:schemeClr val="tx2">
                  <a:lumMod val="75000"/>
                  <a:lumOff val="25000"/>
                </a:schemeClr>
              </a:solidFill>
            </a:endParaRPr>
          </a:p>
        </p:txBody>
      </p:sp>
      <p:sp>
        <p:nvSpPr>
          <p:cNvPr id="14" name="文字方塊 13">
            <a:extLst>
              <a:ext uri="{FF2B5EF4-FFF2-40B4-BE49-F238E27FC236}">
                <a16:creationId xmlns:a16="http://schemas.microsoft.com/office/drawing/2014/main" id="{9D78AF3F-4192-0DBE-059A-6CA63B5C7B7C}"/>
              </a:ext>
            </a:extLst>
          </p:cNvPr>
          <p:cNvSpPr txBox="1"/>
          <p:nvPr/>
        </p:nvSpPr>
        <p:spPr>
          <a:xfrm>
            <a:off x="6011165" y="3178865"/>
            <a:ext cx="451822" cy="369332"/>
          </a:xfrm>
          <a:prstGeom prst="rect">
            <a:avLst/>
          </a:prstGeom>
          <a:noFill/>
        </p:spPr>
        <p:txBody>
          <a:bodyPr wrap="square" rtlCol="0">
            <a:spAutoFit/>
          </a:bodyPr>
          <a:lstStyle/>
          <a:p>
            <a:r>
              <a:rPr kumimoji="1" lang="en-US" altLang="zh-TW" b="1" dirty="0">
                <a:solidFill>
                  <a:schemeClr val="tx2">
                    <a:lumMod val="75000"/>
                    <a:lumOff val="25000"/>
                  </a:schemeClr>
                </a:solidFill>
              </a:rPr>
              <a:t>05</a:t>
            </a:r>
            <a:endParaRPr kumimoji="1" lang="zh-TW" altLang="en-US" b="1" dirty="0">
              <a:solidFill>
                <a:schemeClr val="tx2">
                  <a:lumMod val="75000"/>
                  <a:lumOff val="25000"/>
                </a:schemeClr>
              </a:solidFill>
            </a:endParaRPr>
          </a:p>
        </p:txBody>
      </p:sp>
      <p:sp>
        <p:nvSpPr>
          <p:cNvPr id="15" name="文字方塊 14">
            <a:extLst>
              <a:ext uri="{FF2B5EF4-FFF2-40B4-BE49-F238E27FC236}">
                <a16:creationId xmlns:a16="http://schemas.microsoft.com/office/drawing/2014/main" id="{9674A7F4-3403-3931-6AF7-3D761772A99D}"/>
              </a:ext>
            </a:extLst>
          </p:cNvPr>
          <p:cNvSpPr txBox="1"/>
          <p:nvPr/>
        </p:nvSpPr>
        <p:spPr>
          <a:xfrm>
            <a:off x="6011165" y="4674123"/>
            <a:ext cx="537883" cy="369332"/>
          </a:xfrm>
          <a:prstGeom prst="rect">
            <a:avLst/>
          </a:prstGeom>
          <a:noFill/>
        </p:spPr>
        <p:txBody>
          <a:bodyPr wrap="square" rtlCol="0">
            <a:spAutoFit/>
          </a:bodyPr>
          <a:lstStyle/>
          <a:p>
            <a:r>
              <a:rPr kumimoji="1" lang="en-US" altLang="zh-TW" b="1" dirty="0">
                <a:solidFill>
                  <a:schemeClr val="tx2">
                    <a:lumMod val="75000"/>
                    <a:lumOff val="25000"/>
                  </a:schemeClr>
                </a:solidFill>
              </a:rPr>
              <a:t>06</a:t>
            </a:r>
            <a:endParaRPr kumimoji="1" lang="zh-TW" altLang="en-US" b="1" dirty="0">
              <a:solidFill>
                <a:schemeClr val="tx2">
                  <a:lumMod val="75000"/>
                  <a:lumOff val="25000"/>
                </a:schemeClr>
              </a:solidFill>
            </a:endParaRPr>
          </a:p>
        </p:txBody>
      </p:sp>
      <p:sp>
        <p:nvSpPr>
          <p:cNvPr id="17" name="圓角矩形 16">
            <a:extLst>
              <a:ext uri="{FF2B5EF4-FFF2-40B4-BE49-F238E27FC236}">
                <a16:creationId xmlns:a16="http://schemas.microsoft.com/office/drawing/2014/main" id="{13FF72CA-03E0-B120-C75E-349B48C54D52}"/>
              </a:ext>
            </a:extLst>
          </p:cNvPr>
          <p:cNvSpPr/>
          <p:nvPr/>
        </p:nvSpPr>
        <p:spPr>
          <a:xfrm>
            <a:off x="1828233" y="1717419"/>
            <a:ext cx="1635162" cy="48772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Description</a:t>
            </a:r>
            <a:endParaRPr kumimoji="1" lang="zh-TW" altLang="en-US" dirty="0">
              <a:solidFill>
                <a:schemeClr val="tx1"/>
              </a:solidFill>
            </a:endParaRPr>
          </a:p>
        </p:txBody>
      </p:sp>
      <p:sp>
        <p:nvSpPr>
          <p:cNvPr id="18" name="圓角矩形 17">
            <a:extLst>
              <a:ext uri="{FF2B5EF4-FFF2-40B4-BE49-F238E27FC236}">
                <a16:creationId xmlns:a16="http://schemas.microsoft.com/office/drawing/2014/main" id="{DDBFAD66-2596-2811-5A47-4244DC3D4644}"/>
              </a:ext>
            </a:extLst>
          </p:cNvPr>
          <p:cNvSpPr/>
          <p:nvPr/>
        </p:nvSpPr>
        <p:spPr>
          <a:xfrm>
            <a:off x="1820165" y="3019985"/>
            <a:ext cx="2465294" cy="48772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Approach &amp; Innovation</a:t>
            </a:r>
            <a:endParaRPr kumimoji="1" lang="zh-TW" altLang="en-US" dirty="0">
              <a:solidFill>
                <a:schemeClr val="tx1"/>
              </a:solidFill>
            </a:endParaRPr>
          </a:p>
        </p:txBody>
      </p:sp>
      <p:sp>
        <p:nvSpPr>
          <p:cNvPr id="19" name="圓角矩形 18">
            <a:extLst>
              <a:ext uri="{FF2B5EF4-FFF2-40B4-BE49-F238E27FC236}">
                <a16:creationId xmlns:a16="http://schemas.microsoft.com/office/drawing/2014/main" id="{4B462398-24F5-D4E7-882C-D6569B0B85B6}"/>
              </a:ext>
            </a:extLst>
          </p:cNvPr>
          <p:cNvSpPr/>
          <p:nvPr/>
        </p:nvSpPr>
        <p:spPr>
          <a:xfrm>
            <a:off x="1828233" y="4509082"/>
            <a:ext cx="2465294" cy="48772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High Level diagram</a:t>
            </a:r>
            <a:endParaRPr kumimoji="1" lang="zh-TW" altLang="en-US" dirty="0">
              <a:solidFill>
                <a:schemeClr val="tx1"/>
              </a:solidFill>
            </a:endParaRPr>
          </a:p>
        </p:txBody>
      </p:sp>
      <p:sp>
        <p:nvSpPr>
          <p:cNvPr id="20" name="圓角矩形 19">
            <a:extLst>
              <a:ext uri="{FF2B5EF4-FFF2-40B4-BE49-F238E27FC236}">
                <a16:creationId xmlns:a16="http://schemas.microsoft.com/office/drawing/2014/main" id="{3036FB0E-5517-A9E4-A0E8-C2743F0B57B2}"/>
              </a:ext>
            </a:extLst>
          </p:cNvPr>
          <p:cNvSpPr/>
          <p:nvPr/>
        </p:nvSpPr>
        <p:spPr>
          <a:xfrm>
            <a:off x="7214228" y="4583637"/>
            <a:ext cx="1635162" cy="48772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Demo</a:t>
            </a:r>
            <a:endParaRPr kumimoji="1" lang="zh-TW" altLang="en-US" dirty="0">
              <a:solidFill>
                <a:schemeClr val="tx1"/>
              </a:solidFill>
            </a:endParaRPr>
          </a:p>
        </p:txBody>
      </p:sp>
      <p:sp>
        <p:nvSpPr>
          <p:cNvPr id="21" name="圓角矩形 20">
            <a:extLst>
              <a:ext uri="{FF2B5EF4-FFF2-40B4-BE49-F238E27FC236}">
                <a16:creationId xmlns:a16="http://schemas.microsoft.com/office/drawing/2014/main" id="{D709C4DA-3FDC-907E-4256-B74F0D56CC1D}"/>
              </a:ext>
            </a:extLst>
          </p:cNvPr>
          <p:cNvSpPr/>
          <p:nvPr/>
        </p:nvSpPr>
        <p:spPr>
          <a:xfrm>
            <a:off x="7214228" y="3060475"/>
            <a:ext cx="1635162" cy="48772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dirty="0" err="1">
                <a:solidFill>
                  <a:schemeClr val="tx1"/>
                </a:solidFill>
              </a:rPr>
              <a:t>WorkFlow</a:t>
            </a:r>
            <a:endParaRPr kumimoji="1" lang="zh-TW" altLang="en-US" dirty="0">
              <a:solidFill>
                <a:schemeClr val="tx1"/>
              </a:solidFill>
            </a:endParaRPr>
          </a:p>
        </p:txBody>
      </p:sp>
      <p:sp>
        <p:nvSpPr>
          <p:cNvPr id="22" name="圓角矩形 21">
            <a:extLst>
              <a:ext uri="{FF2B5EF4-FFF2-40B4-BE49-F238E27FC236}">
                <a16:creationId xmlns:a16="http://schemas.microsoft.com/office/drawing/2014/main" id="{7DE8EB41-33FA-AFE5-440D-3EB9352B28E4}"/>
              </a:ext>
            </a:extLst>
          </p:cNvPr>
          <p:cNvSpPr/>
          <p:nvPr/>
        </p:nvSpPr>
        <p:spPr>
          <a:xfrm>
            <a:off x="7214228" y="1690688"/>
            <a:ext cx="2253728" cy="48772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UML</a:t>
            </a:r>
            <a:r>
              <a:rPr lang="zh-TW" altLang="en-US" dirty="0">
                <a:solidFill>
                  <a:schemeClr val="tx1"/>
                </a:solidFill>
              </a:rPr>
              <a:t> </a:t>
            </a:r>
            <a:r>
              <a:rPr lang="en-US" altLang="zh-TW" dirty="0">
                <a:solidFill>
                  <a:schemeClr val="tx1"/>
                </a:solidFill>
              </a:rPr>
              <a:t>class diagram</a:t>
            </a:r>
            <a:endParaRPr kumimoji="1" lang="zh-TW" altLang="en-US" dirty="0">
              <a:solidFill>
                <a:schemeClr val="tx1"/>
              </a:solidFill>
            </a:endParaRPr>
          </a:p>
        </p:txBody>
      </p:sp>
      <p:sp>
        <p:nvSpPr>
          <p:cNvPr id="26" name="Freeform 4">
            <a:extLst>
              <a:ext uri="{FF2B5EF4-FFF2-40B4-BE49-F238E27FC236}">
                <a16:creationId xmlns:a16="http://schemas.microsoft.com/office/drawing/2014/main" id="{8D466364-3882-67DD-55C5-7DBB5F2D8801}"/>
              </a:ext>
            </a:extLst>
          </p:cNvPr>
          <p:cNvSpPr/>
          <p:nvPr/>
        </p:nvSpPr>
        <p:spPr>
          <a:xfrm rot="-3182097">
            <a:off x="9759551" y="4588298"/>
            <a:ext cx="1652279" cy="1554321"/>
          </a:xfrm>
          <a:custGeom>
            <a:avLst/>
            <a:gdLst/>
            <a:ahLst/>
            <a:cxnLst/>
            <a:rect l="l" t="t" r="r" b="b"/>
            <a:pathLst>
              <a:path w="2357740" h="2357740">
                <a:moveTo>
                  <a:pt x="0" y="0"/>
                </a:moveTo>
                <a:lnTo>
                  <a:pt x="2357739" y="0"/>
                </a:lnTo>
                <a:lnTo>
                  <a:pt x="2357739" y="2357740"/>
                </a:lnTo>
                <a:lnTo>
                  <a:pt x="0" y="23577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r>
              <a:rPr lang="en-US" altLang="zh-TW" dirty="0"/>
              <a:t>c</a:t>
            </a:r>
            <a:endParaRPr lang="zh-TW" altLang="en-US" dirty="0"/>
          </a:p>
        </p:txBody>
      </p:sp>
    </p:spTree>
    <p:extLst>
      <p:ext uri="{BB962C8B-B14F-4D97-AF65-F5344CB8AC3E}">
        <p14:creationId xmlns:p14="http://schemas.microsoft.com/office/powerpoint/2010/main" val="1290469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28D177-F2CD-8693-1A3F-23DC698B5D98}"/>
              </a:ext>
            </a:extLst>
          </p:cNvPr>
          <p:cNvSpPr>
            <a:spLocks noGrp="1"/>
          </p:cNvSpPr>
          <p:nvPr>
            <p:ph type="title"/>
          </p:nvPr>
        </p:nvSpPr>
        <p:spPr/>
        <p:txBody>
          <a:bodyPr/>
          <a:lstStyle/>
          <a:p>
            <a:r>
              <a:rPr kumimoji="1" lang="en-US" altLang="zh-TW" dirty="0">
                <a:solidFill>
                  <a:schemeClr val="tx1"/>
                </a:solidFill>
              </a:rPr>
              <a:t>Description</a:t>
            </a:r>
            <a:endParaRPr kumimoji="1" lang="zh-TW" altLang="en-US" b="1" dirty="0"/>
          </a:p>
        </p:txBody>
      </p:sp>
      <p:sp>
        <p:nvSpPr>
          <p:cNvPr id="3" name="內容版面配置區 2">
            <a:extLst>
              <a:ext uri="{FF2B5EF4-FFF2-40B4-BE49-F238E27FC236}">
                <a16:creationId xmlns:a16="http://schemas.microsoft.com/office/drawing/2014/main" id="{8241E6C2-A233-3AE1-B8D5-8D1E46BD0DFE}"/>
              </a:ext>
            </a:extLst>
          </p:cNvPr>
          <p:cNvSpPr>
            <a:spLocks noGrp="1"/>
          </p:cNvSpPr>
          <p:nvPr>
            <p:ph idx="1"/>
          </p:nvPr>
        </p:nvSpPr>
        <p:spPr/>
        <p:txBody>
          <a:bodyPr>
            <a:normAutofit fontScale="77500" lnSpcReduction="20000"/>
          </a:bodyPr>
          <a:lstStyle/>
          <a:p>
            <a:r>
              <a:rPr lang="en-US" altLang="zh-TW" dirty="0"/>
              <a:t>The global health system faces a severe challenge—organ demand dramatically exceeds organ supply. Thousands of patients die each year while waiting for transplants, and the shortages are even more acute in low-income regions where medical infrastructure limitations worsen inequities. Compounding this issue is the existence of illegal organ trafficking networks, which exploit vulnerable populations and undermine ethical medical practices.</a:t>
            </a:r>
            <a:endParaRPr lang="en-US" altLang="zh-TW" b="0" dirty="0">
              <a:effectLst/>
            </a:endParaRPr>
          </a:p>
          <a:p>
            <a:r>
              <a:rPr lang="en-US" altLang="zh-TW" dirty="0"/>
              <a:t>Meanwhile, countries such as the United States, Spain, and South Korea have developed advanced organ donation systems and have large populations of willing donors. These nations can play a crucial role in improving global organ allocation if a coordinated, ethical, tech-driven system is established.</a:t>
            </a:r>
            <a:endParaRPr lang="en-US" altLang="zh-TW" b="0" dirty="0">
              <a:effectLst/>
            </a:endParaRPr>
          </a:p>
          <a:p>
            <a:r>
              <a:rPr lang="en-US" altLang="zh-TW" b="1" dirty="0" err="1"/>
              <a:t>OrganLink</a:t>
            </a:r>
            <a:r>
              <a:rPr lang="en-US" altLang="zh-TW" b="1" dirty="0"/>
              <a:t> Heroes</a:t>
            </a:r>
            <a:r>
              <a:rPr lang="en-US" altLang="zh-TW" dirty="0"/>
              <a:t> aims to bridge these gaps. Our application is designed to streamline global organ donation requests, ensure safe verification and matching, and coordinate transportation and storage using modern medical technologies and secure digital infrastructure.</a:t>
            </a:r>
            <a:endParaRPr lang="en-US" altLang="zh-TW" b="0" dirty="0">
              <a:effectLst/>
            </a:endParaRPr>
          </a:p>
          <a:p>
            <a:pPr marL="0" indent="0">
              <a:buNone/>
            </a:pPr>
            <a:br>
              <a:rPr lang="en-US" altLang="zh-TW" dirty="0"/>
            </a:br>
            <a:endParaRPr kumimoji="1" lang="zh-TW" altLang="en-US" dirty="0"/>
          </a:p>
        </p:txBody>
      </p:sp>
    </p:spTree>
    <p:extLst>
      <p:ext uri="{BB962C8B-B14F-4D97-AF65-F5344CB8AC3E}">
        <p14:creationId xmlns:p14="http://schemas.microsoft.com/office/powerpoint/2010/main" val="40354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4E890-1494-0949-6DFE-86F3308C455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F16F690-5612-F0C4-5691-370BD39D02C8}"/>
              </a:ext>
            </a:extLst>
          </p:cNvPr>
          <p:cNvSpPr>
            <a:spLocks noGrp="1"/>
          </p:cNvSpPr>
          <p:nvPr>
            <p:ph type="title"/>
          </p:nvPr>
        </p:nvSpPr>
        <p:spPr/>
        <p:txBody>
          <a:bodyPr/>
          <a:lstStyle/>
          <a:p>
            <a:r>
              <a:rPr kumimoji="1" lang="en-US" altLang="zh-TW" dirty="0">
                <a:solidFill>
                  <a:schemeClr val="tx1"/>
                </a:solidFill>
              </a:rPr>
              <a:t>Approach &amp; Innovation</a:t>
            </a:r>
            <a:endParaRPr kumimoji="1" lang="zh-TW" altLang="en-US" b="1" dirty="0"/>
          </a:p>
        </p:txBody>
      </p:sp>
      <p:sp>
        <p:nvSpPr>
          <p:cNvPr id="3" name="內容版面配置區 2">
            <a:extLst>
              <a:ext uri="{FF2B5EF4-FFF2-40B4-BE49-F238E27FC236}">
                <a16:creationId xmlns:a16="http://schemas.microsoft.com/office/drawing/2014/main" id="{C1F88405-D53D-25AA-E91E-4AA4B2A396B6}"/>
              </a:ext>
            </a:extLst>
          </p:cNvPr>
          <p:cNvSpPr>
            <a:spLocks noGrp="1"/>
          </p:cNvSpPr>
          <p:nvPr>
            <p:ph idx="1"/>
          </p:nvPr>
        </p:nvSpPr>
        <p:spPr/>
        <p:txBody>
          <a:bodyPr>
            <a:normAutofit fontScale="70000" lnSpcReduction="20000"/>
          </a:bodyPr>
          <a:lstStyle/>
          <a:p>
            <a:r>
              <a:rPr lang="en-US" altLang="zh-TW" dirty="0"/>
              <a:t>Problem</a:t>
            </a:r>
          </a:p>
          <a:p>
            <a:r>
              <a:rPr lang="en-US" altLang="zh-TW" dirty="0"/>
              <a:t>How can we design a scalable and ethically compliant global platform that connects organ donors, transplant centers, and patients, reduces black market dependency, increases transparency, and ensures reliable transportation and medical quality control?</a:t>
            </a:r>
            <a:br>
              <a:rPr lang="en-US" altLang="zh-TW" b="0" dirty="0">
                <a:effectLst/>
              </a:rPr>
            </a:br>
            <a:endParaRPr lang="en-US" altLang="zh-TW" b="0" dirty="0">
              <a:effectLst/>
            </a:endParaRPr>
          </a:p>
          <a:p>
            <a:r>
              <a:rPr lang="en-US" altLang="zh-TW" b="1" dirty="0"/>
              <a:t>Solution</a:t>
            </a:r>
            <a:endParaRPr lang="en-US" altLang="zh-TW" b="1" dirty="0">
              <a:effectLst/>
            </a:endParaRPr>
          </a:p>
          <a:p>
            <a:r>
              <a:rPr lang="en-US" altLang="zh-TW" dirty="0" err="1"/>
              <a:t>OrganLink</a:t>
            </a:r>
            <a:r>
              <a:rPr lang="en-US" altLang="zh-TW" dirty="0"/>
              <a:t> Heroes is a secure, user-friendly, globally scalable platform that connects verified organ donors, beneficiaries, hospitals, and regulatory agencies. It addresses the challenges of organ availability, ethical compliance, cross-border transport, allocation fairness, and logistics.</a:t>
            </a:r>
            <a:endParaRPr lang="en-US" altLang="zh-TW" b="0" dirty="0">
              <a:effectLst/>
            </a:endParaRPr>
          </a:p>
          <a:p>
            <a:r>
              <a:rPr lang="en-US" altLang="zh-TW" dirty="0"/>
              <a:t>The platform’s modular design enables seamless operation across regions with differing medical infrastructures, creating a flexible system capable of combating illegal organ trade while improving legitimate transplant access.</a:t>
            </a:r>
            <a:br>
              <a:rPr lang="en-US" altLang="zh-TW" dirty="0"/>
            </a:br>
            <a:br>
              <a:rPr lang="en-US" altLang="zh-TW" dirty="0"/>
            </a:br>
            <a:endParaRPr kumimoji="1" lang="zh-TW" altLang="en-US" dirty="0"/>
          </a:p>
        </p:txBody>
      </p:sp>
    </p:spTree>
    <p:extLst>
      <p:ext uri="{BB962C8B-B14F-4D97-AF65-F5344CB8AC3E}">
        <p14:creationId xmlns:p14="http://schemas.microsoft.com/office/powerpoint/2010/main" val="3950229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37842-72AD-E0BA-5D78-832DDDC8FF3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63B4013-0BBD-DEFA-46D4-0C09E8EF0027}"/>
              </a:ext>
            </a:extLst>
          </p:cNvPr>
          <p:cNvSpPr>
            <a:spLocks noGrp="1"/>
          </p:cNvSpPr>
          <p:nvPr>
            <p:ph type="title"/>
          </p:nvPr>
        </p:nvSpPr>
        <p:spPr/>
        <p:txBody>
          <a:bodyPr/>
          <a:lstStyle/>
          <a:p>
            <a:r>
              <a:rPr lang="en-US" altLang="zh-TW" dirty="0">
                <a:solidFill>
                  <a:schemeClr val="tx1"/>
                </a:solidFill>
              </a:rPr>
              <a:t>High Level diagram</a:t>
            </a:r>
            <a:endParaRPr kumimoji="1" lang="zh-TW" altLang="en-US" dirty="0">
              <a:solidFill>
                <a:schemeClr val="tx1"/>
              </a:solidFill>
            </a:endParaRPr>
          </a:p>
        </p:txBody>
      </p:sp>
      <p:sp>
        <p:nvSpPr>
          <p:cNvPr id="5" name="內容版面配置區 4">
            <a:extLst>
              <a:ext uri="{FF2B5EF4-FFF2-40B4-BE49-F238E27FC236}">
                <a16:creationId xmlns:a16="http://schemas.microsoft.com/office/drawing/2014/main" id="{ACA74FBD-109B-1615-4BB7-D914BDEC7C18}"/>
              </a:ext>
            </a:extLst>
          </p:cNvPr>
          <p:cNvSpPr>
            <a:spLocks noGrp="1"/>
          </p:cNvSpPr>
          <p:nvPr>
            <p:ph idx="1"/>
          </p:nvPr>
        </p:nvSpPr>
        <p:spPr/>
        <p:txBody>
          <a:bodyPr/>
          <a:lstStyle/>
          <a:p>
            <a:endParaRPr lang="zh-TW" altLang="en-US"/>
          </a:p>
        </p:txBody>
      </p:sp>
      <p:pic>
        <p:nvPicPr>
          <p:cNvPr id="3" name="圖片 2">
            <a:extLst>
              <a:ext uri="{FF2B5EF4-FFF2-40B4-BE49-F238E27FC236}">
                <a16:creationId xmlns:a16="http://schemas.microsoft.com/office/drawing/2014/main" id="{9FCCFCC9-6605-84E4-0835-CFA71CC2870E}"/>
              </a:ext>
            </a:extLst>
          </p:cNvPr>
          <p:cNvPicPr>
            <a:picLocks noChangeAspect="1"/>
          </p:cNvPicPr>
          <p:nvPr/>
        </p:nvPicPr>
        <p:blipFill>
          <a:blip r:embed="rId2"/>
          <a:stretch>
            <a:fillRect/>
          </a:stretch>
        </p:blipFill>
        <p:spPr>
          <a:xfrm>
            <a:off x="0" y="1619221"/>
            <a:ext cx="12091612" cy="4105566"/>
          </a:xfrm>
          <a:prstGeom prst="rect">
            <a:avLst/>
          </a:prstGeom>
        </p:spPr>
      </p:pic>
    </p:spTree>
    <p:extLst>
      <p:ext uri="{BB962C8B-B14F-4D97-AF65-F5344CB8AC3E}">
        <p14:creationId xmlns:p14="http://schemas.microsoft.com/office/powerpoint/2010/main" val="4200323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CAC61-B57A-36D0-C481-4A0C5FBACF1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0C6D019-490D-CB3E-0DFB-468267FB347E}"/>
              </a:ext>
            </a:extLst>
          </p:cNvPr>
          <p:cNvSpPr>
            <a:spLocks noGrp="1"/>
          </p:cNvSpPr>
          <p:nvPr>
            <p:ph type="title"/>
          </p:nvPr>
        </p:nvSpPr>
        <p:spPr/>
        <p:txBody>
          <a:bodyPr/>
          <a:lstStyle/>
          <a:p>
            <a:r>
              <a:rPr lang="en-US" altLang="zh-TW" dirty="0">
                <a:solidFill>
                  <a:schemeClr val="tx1"/>
                </a:solidFill>
              </a:rPr>
              <a:t>UML</a:t>
            </a:r>
            <a:r>
              <a:rPr lang="zh-TW" altLang="en-US" dirty="0">
                <a:solidFill>
                  <a:schemeClr val="tx1"/>
                </a:solidFill>
              </a:rPr>
              <a:t> </a:t>
            </a:r>
            <a:r>
              <a:rPr lang="en-US" altLang="zh-TW" dirty="0">
                <a:solidFill>
                  <a:schemeClr val="tx1"/>
                </a:solidFill>
              </a:rPr>
              <a:t>class diagram</a:t>
            </a:r>
            <a:endParaRPr kumimoji="1" lang="zh-TW" altLang="en-US" dirty="0">
              <a:solidFill>
                <a:schemeClr val="tx1"/>
              </a:solidFill>
            </a:endParaRPr>
          </a:p>
        </p:txBody>
      </p:sp>
      <p:pic>
        <p:nvPicPr>
          <p:cNvPr id="6" name="內容版面配置區 5" descr="一張含有 圖表, 行, 寫生, 方案 的圖片&#10;&#10;AI 產生的內容可能不正確。">
            <a:extLst>
              <a:ext uri="{FF2B5EF4-FFF2-40B4-BE49-F238E27FC236}">
                <a16:creationId xmlns:a16="http://schemas.microsoft.com/office/drawing/2014/main" id="{71EFB4EB-B672-1305-8A45-6BA897677397}"/>
              </a:ext>
            </a:extLst>
          </p:cNvPr>
          <p:cNvPicPr>
            <a:picLocks noGrp="1" noChangeAspect="1"/>
          </p:cNvPicPr>
          <p:nvPr>
            <p:ph idx="1"/>
          </p:nvPr>
        </p:nvPicPr>
        <p:blipFill>
          <a:blip r:embed="rId2"/>
          <a:stretch>
            <a:fillRect/>
          </a:stretch>
        </p:blipFill>
        <p:spPr>
          <a:xfrm>
            <a:off x="1173221" y="1825625"/>
            <a:ext cx="9845557" cy="4351338"/>
          </a:xfrm>
        </p:spPr>
      </p:pic>
    </p:spTree>
    <p:extLst>
      <p:ext uri="{BB962C8B-B14F-4D97-AF65-F5344CB8AC3E}">
        <p14:creationId xmlns:p14="http://schemas.microsoft.com/office/powerpoint/2010/main" val="3113122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B1B3F-29A5-DF0B-C283-F45F4979907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DE6B6A9-7CAD-BC60-9F86-1F2321D03B0E}"/>
              </a:ext>
            </a:extLst>
          </p:cNvPr>
          <p:cNvSpPr>
            <a:spLocks noGrp="1"/>
          </p:cNvSpPr>
          <p:nvPr>
            <p:ph type="title"/>
          </p:nvPr>
        </p:nvSpPr>
        <p:spPr/>
        <p:txBody>
          <a:bodyPr/>
          <a:lstStyle/>
          <a:p>
            <a:r>
              <a:rPr kumimoji="1" lang="en-US" altLang="zh-TW" dirty="0" err="1">
                <a:solidFill>
                  <a:schemeClr val="tx1"/>
                </a:solidFill>
              </a:rPr>
              <a:t>WorkFlow</a:t>
            </a:r>
            <a:endParaRPr kumimoji="1" lang="zh-TW" altLang="en-US" dirty="0">
              <a:solidFill>
                <a:schemeClr val="tx1"/>
              </a:solidFill>
            </a:endParaRPr>
          </a:p>
        </p:txBody>
      </p:sp>
      <p:sp>
        <p:nvSpPr>
          <p:cNvPr id="5" name="內容版面配置區 4">
            <a:extLst>
              <a:ext uri="{FF2B5EF4-FFF2-40B4-BE49-F238E27FC236}">
                <a16:creationId xmlns:a16="http://schemas.microsoft.com/office/drawing/2014/main" id="{48C6F5A4-0DD4-74F2-005C-DBF786A946D0}"/>
              </a:ext>
            </a:extLst>
          </p:cNvPr>
          <p:cNvSpPr>
            <a:spLocks noGrp="1"/>
          </p:cNvSpPr>
          <p:nvPr>
            <p:ph idx="1"/>
          </p:nvPr>
        </p:nvSpPr>
        <p:spPr/>
        <p:txBody>
          <a:bodyPr>
            <a:normAutofit lnSpcReduction="10000"/>
          </a:bodyPr>
          <a:lstStyle/>
          <a:p>
            <a:r>
              <a:rPr lang="en-US" altLang="zh-TW" dirty="0"/>
              <a:t>Workflow 1: Donor Registration and Initial Approval</a:t>
            </a:r>
          </a:p>
          <a:p>
            <a:r>
              <a:rPr lang="en-US" altLang="zh-TW" dirty="0"/>
              <a:t>Description: A potential organ donor registers their personal and basic medical information. This registration is then reviewed and initially approved (or rejected) by a Hospital Officer within the relevant Hospital Enterprise. A System Admin can monitor all registrations.</a:t>
            </a:r>
          </a:p>
          <a:p>
            <a:r>
              <a:rPr lang="en-US" altLang="zh-TW" dirty="0"/>
              <a:t>Workflow 2: Recipient Organ Request and Initial Matching</a:t>
            </a:r>
          </a:p>
          <a:p>
            <a:r>
              <a:rPr lang="en-US" altLang="zh-TW" dirty="0"/>
              <a:t>Description: A patient registers as a potential organ recipient, specifying their medical needs. A Transplant Coordinator reviews this request and initiates an automated search for compatible donors based on basic criteria like blood type and organ type.</a:t>
            </a:r>
          </a:p>
          <a:p>
            <a:endParaRPr lang="zh-TW" altLang="en-US" dirty="0"/>
          </a:p>
        </p:txBody>
      </p:sp>
    </p:spTree>
    <p:extLst>
      <p:ext uri="{BB962C8B-B14F-4D97-AF65-F5344CB8AC3E}">
        <p14:creationId xmlns:p14="http://schemas.microsoft.com/office/powerpoint/2010/main" val="260031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9FE81-A9E6-913C-AC2A-FA0E4C6AA14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105F4CA-88A8-497F-85CE-F13373723233}"/>
              </a:ext>
            </a:extLst>
          </p:cNvPr>
          <p:cNvSpPr>
            <a:spLocks noGrp="1"/>
          </p:cNvSpPr>
          <p:nvPr>
            <p:ph type="title"/>
          </p:nvPr>
        </p:nvSpPr>
        <p:spPr/>
        <p:txBody>
          <a:bodyPr/>
          <a:lstStyle/>
          <a:p>
            <a:r>
              <a:rPr kumimoji="1" lang="en-US" altLang="zh-TW" dirty="0" err="1">
                <a:solidFill>
                  <a:schemeClr val="tx1"/>
                </a:solidFill>
              </a:rPr>
              <a:t>WorkFlow</a:t>
            </a:r>
            <a:endParaRPr kumimoji="1" lang="zh-TW" altLang="en-US" dirty="0">
              <a:solidFill>
                <a:schemeClr val="tx1"/>
              </a:solidFill>
            </a:endParaRPr>
          </a:p>
        </p:txBody>
      </p:sp>
      <p:sp>
        <p:nvSpPr>
          <p:cNvPr id="5" name="內容版面配置區 4">
            <a:extLst>
              <a:ext uri="{FF2B5EF4-FFF2-40B4-BE49-F238E27FC236}">
                <a16:creationId xmlns:a16="http://schemas.microsoft.com/office/drawing/2014/main" id="{A2700EE4-CC4C-A934-0341-EF78FB4644C3}"/>
              </a:ext>
            </a:extLst>
          </p:cNvPr>
          <p:cNvSpPr>
            <a:spLocks noGrp="1"/>
          </p:cNvSpPr>
          <p:nvPr>
            <p:ph idx="1"/>
          </p:nvPr>
        </p:nvSpPr>
        <p:spPr/>
        <p:txBody>
          <a:bodyPr>
            <a:normAutofit/>
          </a:bodyPr>
          <a:lstStyle/>
          <a:p>
            <a:r>
              <a:rPr lang="en-US" altLang="zh-TW" dirty="0"/>
              <a:t>Workflow 3: Medical Test Result Upload and Verification</a:t>
            </a:r>
          </a:p>
          <a:p>
            <a:r>
              <a:rPr lang="en-US" altLang="zh-TW" dirty="0"/>
              <a:t>Description: After a donor is approved and a recipient has an initial match, specific medical tests are required. A Lab Technician uploads the results, and a Doctor reviews and formally verifies them.</a:t>
            </a:r>
          </a:p>
          <a:p>
            <a:r>
              <a:rPr lang="en-US" altLang="zh-TW" dirty="0"/>
              <a:t>Workflow 4: Organ Logistics Request and Assignment</a:t>
            </a:r>
          </a:p>
          <a:p>
            <a:r>
              <a:rPr lang="en-US" altLang="zh-TW" dirty="0"/>
              <a:t>Description: Once an organ match is fully medically verified and confirmed, a Transplant Coordinator requests logistical support to transport the organ. A Logistics Officer then assigns a transport vehicle and team.</a:t>
            </a:r>
          </a:p>
          <a:p>
            <a:endParaRPr lang="zh-TW" altLang="en-US" dirty="0"/>
          </a:p>
        </p:txBody>
      </p:sp>
    </p:spTree>
    <p:extLst>
      <p:ext uri="{BB962C8B-B14F-4D97-AF65-F5344CB8AC3E}">
        <p14:creationId xmlns:p14="http://schemas.microsoft.com/office/powerpoint/2010/main" val="3448903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9211A-F342-B306-8693-ECF0E6F228B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362EDFD-A333-5713-01F0-29E125C55927}"/>
              </a:ext>
            </a:extLst>
          </p:cNvPr>
          <p:cNvSpPr>
            <a:spLocks noGrp="1"/>
          </p:cNvSpPr>
          <p:nvPr>
            <p:ph type="title"/>
          </p:nvPr>
        </p:nvSpPr>
        <p:spPr/>
        <p:txBody>
          <a:bodyPr/>
          <a:lstStyle/>
          <a:p>
            <a:r>
              <a:rPr kumimoji="1" lang="en-US" altLang="zh-TW" dirty="0" err="1">
                <a:solidFill>
                  <a:schemeClr val="tx1"/>
                </a:solidFill>
              </a:rPr>
              <a:t>WorkFlow</a:t>
            </a:r>
            <a:endParaRPr kumimoji="1" lang="zh-TW" altLang="en-US" dirty="0">
              <a:solidFill>
                <a:schemeClr val="tx1"/>
              </a:solidFill>
            </a:endParaRPr>
          </a:p>
        </p:txBody>
      </p:sp>
      <p:sp>
        <p:nvSpPr>
          <p:cNvPr id="5" name="內容版面配置區 4">
            <a:extLst>
              <a:ext uri="{FF2B5EF4-FFF2-40B4-BE49-F238E27FC236}">
                <a16:creationId xmlns:a16="http://schemas.microsoft.com/office/drawing/2014/main" id="{5F9CE361-C0E3-426B-3C11-16027CF268BC}"/>
              </a:ext>
            </a:extLst>
          </p:cNvPr>
          <p:cNvSpPr>
            <a:spLocks noGrp="1"/>
          </p:cNvSpPr>
          <p:nvPr>
            <p:ph idx="1"/>
          </p:nvPr>
        </p:nvSpPr>
        <p:spPr/>
        <p:txBody>
          <a:bodyPr>
            <a:normAutofit/>
          </a:bodyPr>
          <a:lstStyle/>
          <a:p>
            <a:r>
              <a:rPr lang="en-US" altLang="zh-TW" dirty="0"/>
              <a:t>Workflow 3: Medical Test Result Upload and Verification</a:t>
            </a:r>
          </a:p>
          <a:p>
            <a:r>
              <a:rPr lang="en-US" altLang="zh-TW" dirty="0"/>
              <a:t>Description: After a donor is approved and a recipient has an initial match, specific medical tests are required. A Lab Technician uploads the results, and a Doctor reviews and formally verifies them.</a:t>
            </a:r>
          </a:p>
          <a:p>
            <a:r>
              <a:rPr lang="en-US" altLang="zh-TW" dirty="0"/>
              <a:t>Workflow 4: Organ Logistics Request and Assignment</a:t>
            </a:r>
          </a:p>
          <a:p>
            <a:r>
              <a:rPr lang="en-US" altLang="zh-TW" dirty="0"/>
              <a:t>Description: Once an organ match is fully medically verified and confirmed, a Transplant Coordinator requests logistical support to transport the organ. A Logistics Officer then assigns a transport vehicle and team.</a:t>
            </a:r>
          </a:p>
          <a:p>
            <a:endParaRPr lang="zh-TW" altLang="en-US" dirty="0"/>
          </a:p>
        </p:txBody>
      </p:sp>
    </p:spTree>
    <p:extLst>
      <p:ext uri="{BB962C8B-B14F-4D97-AF65-F5344CB8AC3E}">
        <p14:creationId xmlns:p14="http://schemas.microsoft.com/office/powerpoint/2010/main" val="1162087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8BA235-5B3A-8015-8E60-A0B1DBD4C2BF}"/>
              </a:ext>
            </a:extLst>
          </p:cNvPr>
          <p:cNvSpPr>
            <a:spLocks noGrp="1"/>
          </p:cNvSpPr>
          <p:nvPr>
            <p:ph type="title"/>
          </p:nvPr>
        </p:nvSpPr>
        <p:spPr>
          <a:xfrm>
            <a:off x="4530550" y="2716441"/>
            <a:ext cx="3130899" cy="1101934"/>
          </a:xfrm>
        </p:spPr>
        <p:txBody>
          <a:bodyPr/>
          <a:lstStyle/>
          <a:p>
            <a:r>
              <a:rPr kumimoji="1" lang="en-US" altLang="zh-TW" dirty="0"/>
              <a:t>Thank you !</a:t>
            </a:r>
            <a:endParaRPr kumimoji="1" lang="zh-TW" altLang="en-US" dirty="0"/>
          </a:p>
        </p:txBody>
      </p:sp>
      <p:sp>
        <p:nvSpPr>
          <p:cNvPr id="4" name="Freeform 8">
            <a:extLst>
              <a:ext uri="{FF2B5EF4-FFF2-40B4-BE49-F238E27FC236}">
                <a16:creationId xmlns:a16="http://schemas.microsoft.com/office/drawing/2014/main" id="{FBA526F3-19BF-4F5A-02AE-FA471DE5E7FA}"/>
              </a:ext>
            </a:extLst>
          </p:cNvPr>
          <p:cNvSpPr/>
          <p:nvPr/>
        </p:nvSpPr>
        <p:spPr>
          <a:xfrm>
            <a:off x="720399" y="5410200"/>
            <a:ext cx="1109938" cy="1033871"/>
          </a:xfrm>
          <a:custGeom>
            <a:avLst/>
            <a:gdLst/>
            <a:ahLst/>
            <a:cxnLst/>
            <a:rect l="l" t="t" r="r" b="b"/>
            <a:pathLst>
              <a:path w="3223981" h="3271568">
                <a:moveTo>
                  <a:pt x="0" y="0"/>
                </a:moveTo>
                <a:lnTo>
                  <a:pt x="3223982" y="0"/>
                </a:lnTo>
                <a:lnTo>
                  <a:pt x="3223982" y="3271568"/>
                </a:lnTo>
                <a:lnTo>
                  <a:pt x="0" y="32715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dirty="0"/>
          </a:p>
        </p:txBody>
      </p:sp>
      <p:sp>
        <p:nvSpPr>
          <p:cNvPr id="5" name="Freeform 7">
            <a:extLst>
              <a:ext uri="{FF2B5EF4-FFF2-40B4-BE49-F238E27FC236}">
                <a16:creationId xmlns:a16="http://schemas.microsoft.com/office/drawing/2014/main" id="{294EA205-67D3-0609-C260-FFD4407F8BA4}"/>
              </a:ext>
            </a:extLst>
          </p:cNvPr>
          <p:cNvSpPr/>
          <p:nvPr/>
        </p:nvSpPr>
        <p:spPr>
          <a:xfrm>
            <a:off x="2364049" y="5113497"/>
            <a:ext cx="1540481" cy="1339509"/>
          </a:xfrm>
          <a:custGeom>
            <a:avLst/>
            <a:gdLst/>
            <a:ahLst/>
            <a:cxnLst/>
            <a:rect l="l" t="t" r="r" b="b"/>
            <a:pathLst>
              <a:path w="1950475" h="2005630">
                <a:moveTo>
                  <a:pt x="0" y="0"/>
                </a:moveTo>
                <a:lnTo>
                  <a:pt x="1950474" y="0"/>
                </a:lnTo>
                <a:lnTo>
                  <a:pt x="1950474" y="2005630"/>
                </a:lnTo>
                <a:lnTo>
                  <a:pt x="0" y="2005630"/>
                </a:lnTo>
                <a:lnTo>
                  <a:pt x="0" y="0"/>
                </a:lnTo>
                <a:close/>
              </a:path>
            </a:pathLst>
          </a:custGeom>
          <a:blipFill>
            <a:blip r:embed="rId4"/>
            <a:stretch>
              <a:fillRect/>
            </a:stretch>
          </a:blipFill>
        </p:spPr>
        <p:txBody>
          <a:bodyPr/>
          <a:lstStyle/>
          <a:p>
            <a:endParaRPr lang="zh-TW" altLang="en-US"/>
          </a:p>
        </p:txBody>
      </p:sp>
      <p:sp>
        <p:nvSpPr>
          <p:cNvPr id="9" name="Freeform 9">
            <a:extLst>
              <a:ext uri="{FF2B5EF4-FFF2-40B4-BE49-F238E27FC236}">
                <a16:creationId xmlns:a16="http://schemas.microsoft.com/office/drawing/2014/main" id="{DDAF4490-B00C-7A7F-F35B-808252577ACA}"/>
              </a:ext>
            </a:extLst>
          </p:cNvPr>
          <p:cNvSpPr/>
          <p:nvPr/>
        </p:nvSpPr>
        <p:spPr>
          <a:xfrm>
            <a:off x="2204551" y="2437903"/>
            <a:ext cx="1859479" cy="1659009"/>
          </a:xfrm>
          <a:custGeom>
            <a:avLst/>
            <a:gdLst/>
            <a:ahLst/>
            <a:cxnLst/>
            <a:rect l="l" t="t" r="r" b="b"/>
            <a:pathLst>
              <a:path w="2571540" h="2501407">
                <a:moveTo>
                  <a:pt x="0" y="0"/>
                </a:moveTo>
                <a:lnTo>
                  <a:pt x="2571540" y="0"/>
                </a:lnTo>
                <a:lnTo>
                  <a:pt x="2571540" y="2501407"/>
                </a:lnTo>
                <a:lnTo>
                  <a:pt x="0" y="250140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11" name="Freeform 8">
            <a:extLst>
              <a:ext uri="{FF2B5EF4-FFF2-40B4-BE49-F238E27FC236}">
                <a16:creationId xmlns:a16="http://schemas.microsoft.com/office/drawing/2014/main" id="{986BD7E7-0220-3D72-EB87-1B53E2F7C5CA}"/>
              </a:ext>
            </a:extLst>
          </p:cNvPr>
          <p:cNvSpPr/>
          <p:nvPr/>
        </p:nvSpPr>
        <p:spPr>
          <a:xfrm>
            <a:off x="4635610" y="5410200"/>
            <a:ext cx="1109938" cy="1033871"/>
          </a:xfrm>
          <a:custGeom>
            <a:avLst/>
            <a:gdLst/>
            <a:ahLst/>
            <a:cxnLst/>
            <a:rect l="l" t="t" r="r" b="b"/>
            <a:pathLst>
              <a:path w="3223981" h="3271568">
                <a:moveTo>
                  <a:pt x="0" y="0"/>
                </a:moveTo>
                <a:lnTo>
                  <a:pt x="3223982" y="0"/>
                </a:lnTo>
                <a:lnTo>
                  <a:pt x="3223982" y="3271568"/>
                </a:lnTo>
                <a:lnTo>
                  <a:pt x="0" y="32715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dirty="0"/>
          </a:p>
        </p:txBody>
      </p:sp>
      <p:sp>
        <p:nvSpPr>
          <p:cNvPr id="12" name="Freeform 7">
            <a:extLst>
              <a:ext uri="{FF2B5EF4-FFF2-40B4-BE49-F238E27FC236}">
                <a16:creationId xmlns:a16="http://schemas.microsoft.com/office/drawing/2014/main" id="{641287AF-BB16-1294-64C2-59A637BBD0BF}"/>
              </a:ext>
            </a:extLst>
          </p:cNvPr>
          <p:cNvSpPr/>
          <p:nvPr/>
        </p:nvSpPr>
        <p:spPr>
          <a:xfrm>
            <a:off x="6120968" y="5113497"/>
            <a:ext cx="1540481" cy="1339509"/>
          </a:xfrm>
          <a:custGeom>
            <a:avLst/>
            <a:gdLst/>
            <a:ahLst/>
            <a:cxnLst/>
            <a:rect l="l" t="t" r="r" b="b"/>
            <a:pathLst>
              <a:path w="1950475" h="2005630">
                <a:moveTo>
                  <a:pt x="0" y="0"/>
                </a:moveTo>
                <a:lnTo>
                  <a:pt x="1950474" y="0"/>
                </a:lnTo>
                <a:lnTo>
                  <a:pt x="1950474" y="2005630"/>
                </a:lnTo>
                <a:lnTo>
                  <a:pt x="0" y="2005630"/>
                </a:lnTo>
                <a:lnTo>
                  <a:pt x="0" y="0"/>
                </a:lnTo>
                <a:close/>
              </a:path>
            </a:pathLst>
          </a:custGeom>
          <a:blipFill>
            <a:blip r:embed="rId4"/>
            <a:stretch>
              <a:fillRect/>
            </a:stretch>
          </a:blipFill>
        </p:spPr>
        <p:txBody>
          <a:bodyPr/>
          <a:lstStyle/>
          <a:p>
            <a:endParaRPr lang="zh-TW" altLang="en-US"/>
          </a:p>
        </p:txBody>
      </p:sp>
      <p:sp>
        <p:nvSpPr>
          <p:cNvPr id="13" name="Freeform 8">
            <a:extLst>
              <a:ext uri="{FF2B5EF4-FFF2-40B4-BE49-F238E27FC236}">
                <a16:creationId xmlns:a16="http://schemas.microsoft.com/office/drawing/2014/main" id="{7182E4BF-E4BF-4317-B1DB-A6AAED80364E}"/>
              </a:ext>
            </a:extLst>
          </p:cNvPr>
          <p:cNvSpPr/>
          <p:nvPr/>
        </p:nvSpPr>
        <p:spPr>
          <a:xfrm>
            <a:off x="8293210" y="5410199"/>
            <a:ext cx="1109938" cy="1033871"/>
          </a:xfrm>
          <a:custGeom>
            <a:avLst/>
            <a:gdLst/>
            <a:ahLst/>
            <a:cxnLst/>
            <a:rect l="l" t="t" r="r" b="b"/>
            <a:pathLst>
              <a:path w="3223981" h="3271568">
                <a:moveTo>
                  <a:pt x="0" y="0"/>
                </a:moveTo>
                <a:lnTo>
                  <a:pt x="3223982" y="0"/>
                </a:lnTo>
                <a:lnTo>
                  <a:pt x="3223982" y="3271568"/>
                </a:lnTo>
                <a:lnTo>
                  <a:pt x="0" y="32715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dirty="0"/>
          </a:p>
        </p:txBody>
      </p:sp>
      <p:sp>
        <p:nvSpPr>
          <p:cNvPr id="14" name="Freeform 7">
            <a:extLst>
              <a:ext uri="{FF2B5EF4-FFF2-40B4-BE49-F238E27FC236}">
                <a16:creationId xmlns:a16="http://schemas.microsoft.com/office/drawing/2014/main" id="{68A05791-3CE6-D369-652C-7A109B3825BB}"/>
              </a:ext>
            </a:extLst>
          </p:cNvPr>
          <p:cNvSpPr/>
          <p:nvPr/>
        </p:nvSpPr>
        <p:spPr>
          <a:xfrm>
            <a:off x="9991917" y="5104561"/>
            <a:ext cx="1540481" cy="1339509"/>
          </a:xfrm>
          <a:custGeom>
            <a:avLst/>
            <a:gdLst/>
            <a:ahLst/>
            <a:cxnLst/>
            <a:rect l="l" t="t" r="r" b="b"/>
            <a:pathLst>
              <a:path w="1950475" h="2005630">
                <a:moveTo>
                  <a:pt x="0" y="0"/>
                </a:moveTo>
                <a:lnTo>
                  <a:pt x="1950474" y="0"/>
                </a:lnTo>
                <a:lnTo>
                  <a:pt x="1950474" y="2005630"/>
                </a:lnTo>
                <a:lnTo>
                  <a:pt x="0" y="2005630"/>
                </a:lnTo>
                <a:lnTo>
                  <a:pt x="0" y="0"/>
                </a:lnTo>
                <a:close/>
              </a:path>
            </a:pathLst>
          </a:custGeom>
          <a:blipFill>
            <a:blip r:embed="rId4"/>
            <a:stretch>
              <a:fillRect/>
            </a:stretch>
          </a:blipFill>
        </p:spPr>
        <p:txBody>
          <a:bodyPr/>
          <a:lstStyle/>
          <a:p>
            <a:endParaRPr lang="zh-TW" altLang="en-US"/>
          </a:p>
        </p:txBody>
      </p:sp>
    </p:spTree>
    <p:extLst>
      <p:ext uri="{BB962C8B-B14F-4D97-AF65-F5344CB8AC3E}">
        <p14:creationId xmlns:p14="http://schemas.microsoft.com/office/powerpoint/2010/main" val="200775407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209</TotalTime>
  <Words>617</Words>
  <Application>Microsoft Macintosh PowerPoint</Application>
  <PresentationFormat>寬螢幕</PresentationFormat>
  <Paragraphs>53</Paragraphs>
  <Slides>10</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10</vt:i4>
      </vt:variant>
    </vt:vector>
  </HeadingPairs>
  <TitlesOfParts>
    <vt:vector size="15" baseType="lpstr">
      <vt:lpstr>Aptos</vt:lpstr>
      <vt:lpstr>Aptos Display</vt:lpstr>
      <vt:lpstr>Arial</vt:lpstr>
      <vt:lpstr>Times New Roman</vt:lpstr>
      <vt:lpstr>Office 佈景主題</vt:lpstr>
      <vt:lpstr>Organ-Link-Heros System</vt:lpstr>
      <vt:lpstr>outline</vt:lpstr>
      <vt:lpstr>Description</vt:lpstr>
      <vt:lpstr>Approach &amp; Innovation</vt:lpstr>
      <vt:lpstr>High Level diagram</vt:lpstr>
      <vt:lpstr>UML class diagram</vt:lpstr>
      <vt:lpstr>WorkFlow</vt:lpstr>
      <vt:lpstr>WorkFlow</vt:lpstr>
      <vt:lpstr>WorkFlow</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 Yu Chiu</dc:creator>
  <cp:lastModifiedBy>WAN Yu Chiu</cp:lastModifiedBy>
  <cp:revision>5</cp:revision>
  <dcterms:created xsi:type="dcterms:W3CDTF">2025-12-07T17:15:46Z</dcterms:created>
  <dcterms:modified xsi:type="dcterms:W3CDTF">2025-12-07T22:20:41Z</dcterms:modified>
</cp:coreProperties>
</file>